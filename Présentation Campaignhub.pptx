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1" r:id="rId4"/>
    <p:sldId id="272" r:id="rId5"/>
    <p:sldId id="267" r:id="rId6"/>
    <p:sldId id="268" r:id="rId7"/>
    <p:sldId id="269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7732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399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21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46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844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78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3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3" Type="http://schemas.openxmlformats.org/officeDocument/2006/relationships/image" Target="../media/image4.png"/><Relationship Id="rId21" Type="http://schemas.openxmlformats.org/officeDocument/2006/relationships/image" Target="../media/image3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4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4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3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76.png"/><Relationship Id="rId5" Type="http://schemas.openxmlformats.org/officeDocument/2006/relationships/image" Target="../media/image71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70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4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10" Type="http://schemas.openxmlformats.org/officeDocument/2006/relationships/image" Target="../media/image3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4.png"/><Relationship Id="rId7" Type="http://schemas.openxmlformats.org/officeDocument/2006/relationships/image" Target="../media/image92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4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10" Type="http://schemas.openxmlformats.org/officeDocument/2006/relationships/image" Target="../media/image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3" Type="http://schemas.openxmlformats.org/officeDocument/2006/relationships/image" Target="../media/image4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5" Type="http://schemas.openxmlformats.org/officeDocument/2006/relationships/image" Target="../media/image11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4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10" Type="http://schemas.openxmlformats.org/officeDocument/2006/relationships/image" Target="../media/image3.png"/><Relationship Id="rId4" Type="http://schemas.openxmlformats.org/officeDocument/2006/relationships/image" Target="../media/image52.png"/><Relationship Id="rId9" Type="http://schemas.openxmlformats.org/officeDocument/2006/relationships/image" Target="../media/image1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4.png"/><Relationship Id="rId7" Type="http://schemas.openxmlformats.org/officeDocument/2006/relationships/image" Target="../media/image1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11" Type="http://schemas.openxmlformats.org/officeDocument/2006/relationships/image" Target="../media/image3.png"/><Relationship Id="rId5" Type="http://schemas.openxmlformats.org/officeDocument/2006/relationships/image" Target="../media/image121.png"/><Relationship Id="rId10" Type="http://schemas.openxmlformats.org/officeDocument/2006/relationships/image" Target="../media/image126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7795" b="779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>
              <a:alpha val="7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2"/>
          <p:cNvSpPr/>
          <p:nvPr/>
        </p:nvSpPr>
        <p:spPr>
          <a:xfrm>
            <a:off x="648310" y="2580723"/>
            <a:ext cx="75895" cy="1790395"/>
          </a:xfrm>
          <a:prstGeom prst="rect">
            <a:avLst/>
          </a:prstGeom>
          <a:solidFill>
            <a:srgbClr val="1F6AE1"/>
          </a:solidFill>
          <a:ln w="12700">
            <a:solidFill>
              <a:srgbClr val="1F6A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" name="Text 3"/>
          <p:cNvSpPr txBox="1"/>
          <p:nvPr/>
        </p:nvSpPr>
        <p:spPr>
          <a:xfrm>
            <a:off x="1010412" y="2776665"/>
            <a:ext cx="10533278" cy="1791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Orchestrer la performance commerciale bancaire à l'ère du digital</a:t>
            </a:r>
            <a:endParaRPr lang="en-US" sz="3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643403" y="5620252"/>
            <a:ext cx="6075559" cy="67767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33598" y="5726887"/>
            <a:ext cx="593196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différenciateur n'est plus le canal, mais la capacité à </a:t>
            </a:r>
            <a:r>
              <a:rPr lang="en-US" sz="15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piloter</a:t>
            </a: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 parcours client de bout en bout, en temps réel.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478695" y="468976"/>
            <a:ext cx="3908486" cy="377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75" dirty="0" err="1">
                <a:solidFill>
                  <a:srgbClr val="FFFF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Campaign</a:t>
            </a:r>
            <a:r>
              <a:rPr lang="en-US" sz="2800" b="1" kern="0" spc="75" dirty="0" err="1">
                <a:solidFill>
                  <a:srgbClr val="27C7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Hub</a:t>
            </a:r>
            <a:r>
              <a:rPr lang="en-US" sz="2800" b="1" kern="0" spc="75" dirty="0">
                <a:solidFill>
                  <a:srgbClr val="27C7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by</a:t>
            </a:r>
            <a:endParaRPr lang="en-US" sz="2800" dirty="0"/>
          </a:p>
        </p:txBody>
      </p:sp>
      <p:sp>
        <p:nvSpPr>
          <p:cNvPr id="16" name="Shape 11"/>
          <p:cNvSpPr/>
          <p:nvPr/>
        </p:nvSpPr>
        <p:spPr>
          <a:xfrm>
            <a:off x="11297412" y="6197803"/>
            <a:ext cx="9144" cy="200254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7" name="Text 12"/>
          <p:cNvSpPr txBox="1"/>
          <p:nvPr/>
        </p:nvSpPr>
        <p:spPr>
          <a:xfrm>
            <a:off x="11496751" y="6197803"/>
            <a:ext cx="239573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9E6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</a:t>
            </a:r>
            <a:endParaRPr lang="en-US" sz="1000" dirty="0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854" y="-53135"/>
            <a:ext cx="4023841" cy="14217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78B5FCE-7DF0-C3A3-C3A9-8E27D372EF4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64C0F3A1-4526-D602-6BD7-742CA4D4BE75}"/>
              </a:ext>
            </a:extLst>
          </p:cNvPr>
          <p:cNvSpPr/>
          <p:nvPr/>
        </p:nvSpPr>
        <p:spPr>
          <a:xfrm>
            <a:off x="0" y="0"/>
            <a:ext cx="12191695" cy="4480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513" y="9144"/>
            <a:ext cx="466344" cy="3236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89513" y="55799"/>
            <a:ext cx="4672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924458" y="527334"/>
            <a:ext cx="1022382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freine aujourd'hui la performance commerciale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648310" y="594084"/>
            <a:ext cx="57607" cy="418795"/>
          </a:xfrm>
          <a:prstGeom prst="roundRect">
            <a:avLst>
              <a:gd name="adj" fmla="val 793654"/>
            </a:avLst>
          </a:prstGeom>
          <a:solidFill>
            <a:srgbClr val="1F6A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2" name="Shape 8"/>
          <p:cNvSpPr/>
          <p:nvPr/>
        </p:nvSpPr>
        <p:spPr>
          <a:xfrm>
            <a:off x="648310" y="1339092"/>
            <a:ext cx="7086600" cy="857707"/>
          </a:xfrm>
          <a:prstGeom prst="roundRect">
            <a:avLst>
              <a:gd name="adj" fmla="val 947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3" name="Shape 9"/>
          <p:cNvSpPr/>
          <p:nvPr/>
        </p:nvSpPr>
        <p:spPr>
          <a:xfrm>
            <a:off x="648310" y="1339092"/>
            <a:ext cx="38405" cy="857707"/>
          </a:xfrm>
          <a:prstGeom prst="roundRect">
            <a:avLst>
              <a:gd name="adj" fmla="val 211639"/>
            </a:avLst>
          </a:prstGeom>
          <a:solidFill>
            <a:srgbClr val="D1D9E6"/>
          </a:solidFill>
          <a:ln w="12700">
            <a:solidFill>
              <a:srgbClr val="D1D9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4" name="Shape 10"/>
          <p:cNvSpPr/>
          <p:nvPr/>
        </p:nvSpPr>
        <p:spPr>
          <a:xfrm>
            <a:off x="924458" y="1576836"/>
            <a:ext cx="333756" cy="381305"/>
          </a:xfrm>
          <a:prstGeom prst="roundRect">
            <a:avLst>
              <a:gd name="adj" fmla="val 136986"/>
            </a:avLst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994867" y="1681992"/>
            <a:ext cx="190195" cy="17190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46581" y="1481738"/>
            <a:ext cx="61246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 campagnes digitales générant des leads, mais peu transformées en business réel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48310" y="2262636"/>
            <a:ext cx="7086600" cy="666598"/>
          </a:xfrm>
          <a:prstGeom prst="roundRect">
            <a:avLst>
              <a:gd name="adj" fmla="val 1567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8" name="Shape 13"/>
          <p:cNvSpPr/>
          <p:nvPr/>
        </p:nvSpPr>
        <p:spPr>
          <a:xfrm>
            <a:off x="648310" y="2262636"/>
            <a:ext cx="38405" cy="666598"/>
          </a:xfrm>
          <a:prstGeom prst="roundRect">
            <a:avLst>
              <a:gd name="adj" fmla="val 272107"/>
            </a:avLst>
          </a:prstGeom>
          <a:solidFill>
            <a:srgbClr val="D1D9E6"/>
          </a:solidFill>
          <a:ln w="12700">
            <a:solidFill>
              <a:srgbClr val="D1D9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9" name="Shape 14"/>
          <p:cNvSpPr/>
          <p:nvPr/>
        </p:nvSpPr>
        <p:spPr>
          <a:xfrm>
            <a:off x="924458" y="2405282"/>
            <a:ext cx="381305" cy="381305"/>
          </a:xfrm>
          <a:prstGeom prst="ellipse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28700" y="2510438"/>
            <a:ext cx="171907" cy="17190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95958" y="2452831"/>
            <a:ext cx="6191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 parcours clients figés, difficiles à ajuster en cours de campagne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648310" y="2995985"/>
            <a:ext cx="7086600" cy="666598"/>
          </a:xfrm>
          <a:prstGeom prst="roundRect">
            <a:avLst>
              <a:gd name="adj" fmla="val 1567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3" name="Shape 17"/>
          <p:cNvSpPr/>
          <p:nvPr/>
        </p:nvSpPr>
        <p:spPr>
          <a:xfrm>
            <a:off x="648310" y="2995985"/>
            <a:ext cx="38405" cy="666598"/>
          </a:xfrm>
          <a:prstGeom prst="roundRect">
            <a:avLst>
              <a:gd name="adj" fmla="val 272107"/>
            </a:avLst>
          </a:prstGeom>
          <a:solidFill>
            <a:srgbClr val="D1D9E6"/>
          </a:solidFill>
          <a:ln w="12700">
            <a:solidFill>
              <a:srgbClr val="D1D9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4" name="Shape 18"/>
          <p:cNvSpPr/>
          <p:nvPr/>
        </p:nvSpPr>
        <p:spPr>
          <a:xfrm>
            <a:off x="924458" y="3138631"/>
            <a:ext cx="381305" cy="381305"/>
          </a:xfrm>
          <a:prstGeom prst="ellipse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 l="-1064" r="-1064"/>
          <a:stretch/>
        </p:blipFill>
        <p:spPr>
          <a:xfrm>
            <a:off x="1004926" y="3242873"/>
            <a:ext cx="219456" cy="17190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95958" y="3186180"/>
            <a:ext cx="60295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Une intervention humaine peu ciblée, coûteuse et parfois tardive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648310" y="3728419"/>
            <a:ext cx="7086600" cy="666598"/>
          </a:xfrm>
          <a:prstGeom prst="roundRect">
            <a:avLst>
              <a:gd name="adj" fmla="val 1567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8" name="Shape 21"/>
          <p:cNvSpPr/>
          <p:nvPr/>
        </p:nvSpPr>
        <p:spPr>
          <a:xfrm>
            <a:off x="648310" y="3728419"/>
            <a:ext cx="38405" cy="666598"/>
          </a:xfrm>
          <a:prstGeom prst="roundRect">
            <a:avLst>
              <a:gd name="adj" fmla="val 272107"/>
            </a:avLst>
          </a:prstGeom>
          <a:solidFill>
            <a:srgbClr val="D1D9E6"/>
          </a:solidFill>
          <a:ln w="12700">
            <a:solidFill>
              <a:srgbClr val="D1D9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9" name="Shape 22"/>
          <p:cNvSpPr/>
          <p:nvPr/>
        </p:nvSpPr>
        <p:spPr>
          <a:xfrm>
            <a:off x="924458" y="3871066"/>
            <a:ext cx="381305" cy="381305"/>
          </a:xfrm>
          <a:prstGeom prst="ellipse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8700" y="3976222"/>
            <a:ext cx="171907" cy="17190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495958" y="3919529"/>
            <a:ext cx="45537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 pilotage marketing ex post, peu actionnable</a:t>
            </a:r>
            <a:endParaRPr lang="en-US" sz="1500" dirty="0"/>
          </a:p>
        </p:txBody>
      </p:sp>
      <p:sp>
        <p:nvSpPr>
          <p:cNvPr id="32" name="Shape 24"/>
          <p:cNvSpPr/>
          <p:nvPr/>
        </p:nvSpPr>
        <p:spPr>
          <a:xfrm>
            <a:off x="648310" y="4461768"/>
            <a:ext cx="7086600" cy="666598"/>
          </a:xfrm>
          <a:prstGeom prst="roundRect">
            <a:avLst>
              <a:gd name="adj" fmla="val 1567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3" name="Shape 25"/>
          <p:cNvSpPr/>
          <p:nvPr/>
        </p:nvSpPr>
        <p:spPr>
          <a:xfrm>
            <a:off x="648310" y="4461768"/>
            <a:ext cx="38405" cy="666598"/>
          </a:xfrm>
          <a:prstGeom prst="roundRect">
            <a:avLst>
              <a:gd name="adj" fmla="val 272107"/>
            </a:avLst>
          </a:prstGeom>
          <a:solidFill>
            <a:srgbClr val="D1D9E6"/>
          </a:solidFill>
          <a:ln w="12700">
            <a:solidFill>
              <a:srgbClr val="D1D9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4" name="Shape 26"/>
          <p:cNvSpPr/>
          <p:nvPr/>
        </p:nvSpPr>
        <p:spPr>
          <a:xfrm>
            <a:off x="924458" y="4604414"/>
            <a:ext cx="381305" cy="381305"/>
          </a:xfrm>
          <a:prstGeom prst="ellipse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28700" y="4709570"/>
            <a:ext cx="171907" cy="171907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95958" y="4651963"/>
            <a:ext cx="55348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Une forte dépendance à l'IT pour faire évoluer les parcours</a:t>
            </a:r>
            <a:endParaRPr lang="en-US" sz="1500" dirty="0"/>
          </a:p>
        </p:txBody>
      </p:sp>
      <p:sp>
        <p:nvSpPr>
          <p:cNvPr id="37" name="Shape 28"/>
          <p:cNvSpPr/>
          <p:nvPr/>
        </p:nvSpPr>
        <p:spPr>
          <a:xfrm rot="180000">
            <a:off x="8286293" y="1756058"/>
            <a:ext cx="3191256" cy="3343046"/>
          </a:xfrm>
          <a:prstGeom prst="roundRect">
            <a:avLst>
              <a:gd name="adj" fmla="val 1711"/>
            </a:avLst>
          </a:prstGeom>
          <a:solidFill>
            <a:srgbClr val="E6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8" name="Shape 29"/>
          <p:cNvSpPr/>
          <p:nvPr/>
        </p:nvSpPr>
        <p:spPr>
          <a:xfrm>
            <a:off x="648310" y="5526912"/>
            <a:ext cx="11011205" cy="1047902"/>
          </a:xfrm>
          <a:prstGeom prst="roundRect">
            <a:avLst>
              <a:gd name="adj" fmla="val 6346"/>
            </a:avLst>
          </a:prstGeom>
          <a:solidFill>
            <a:srgbClr val="0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981151" y="5882614"/>
            <a:ext cx="256946" cy="34290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1524305" y="5632068"/>
            <a:ext cx="99157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13" dirty="0">
                <a:solidFill>
                  <a:srgbClr val="27C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Constat Clé</a:t>
            </a:r>
            <a:endParaRPr lang="en-US" sz="1000" dirty="0"/>
          </a:p>
        </p:txBody>
      </p:sp>
      <p:sp>
        <p:nvSpPr>
          <p:cNvPr id="41" name="Text 31"/>
          <p:cNvSpPr txBox="1"/>
          <p:nvPr/>
        </p:nvSpPr>
        <p:spPr>
          <a:xfrm>
            <a:off x="1524305" y="5879871"/>
            <a:ext cx="988009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banque manque d'un outil unique pour concevoir, orchestrer et piloter des parcours clients dynamiques, orientés conversion.</a:t>
            </a:r>
            <a:endParaRPr lang="en-US" sz="16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108899" y="1995631"/>
            <a:ext cx="3543300" cy="2857500"/>
          </a:xfrm>
          <a:prstGeom prst="rect">
            <a:avLst/>
          </a:prstGeom>
        </p:spPr>
      </p:pic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1"/>
          <a:srcRect l="-1" r="-1"/>
          <a:stretch/>
        </p:blipFill>
        <p:spPr>
          <a:xfrm>
            <a:off x="8299094" y="2185826"/>
            <a:ext cx="3161995" cy="2476195"/>
          </a:xfrm>
          <a:prstGeom prst="rect">
            <a:avLst/>
          </a:prstGeom>
        </p:spPr>
      </p:pic>
      <p:grpSp>
        <p:nvGrpSpPr>
          <p:cNvPr id="6" name="Groupe 5">
            <a:extLst>
              <a:ext uri="{FF2B5EF4-FFF2-40B4-BE49-F238E27FC236}">
                <a16:creationId xmlns:a16="http://schemas.microsoft.com/office/drawing/2014/main" id="{F3A89E86-36AC-E958-1BB6-48CC04671CAA}"/>
              </a:ext>
            </a:extLst>
          </p:cNvPr>
          <p:cNvGrpSpPr/>
          <p:nvPr/>
        </p:nvGrpSpPr>
        <p:grpSpPr>
          <a:xfrm>
            <a:off x="540410" y="-192303"/>
            <a:ext cx="4385073" cy="729585"/>
            <a:chOff x="540410" y="-192303"/>
            <a:chExt cx="4385073" cy="729585"/>
          </a:xfrm>
        </p:grpSpPr>
        <p:sp>
          <p:nvSpPr>
            <p:cNvPr id="45" name="Text 4"/>
            <p:cNvSpPr txBox="1"/>
            <p:nvPr/>
          </p:nvSpPr>
          <p:spPr>
            <a:xfrm>
              <a:off x="540410" y="-7754"/>
              <a:ext cx="232020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 err="1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Campaign</a:t>
              </a:r>
              <a:r>
                <a:rPr lang="en-US" sz="1800" b="1" dirty="0" err="1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Hub</a:t>
              </a:r>
              <a:r>
                <a:rPr lang="en-US" sz="1800" b="1" dirty="0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by</a:t>
              </a:r>
              <a:endParaRPr lang="en-US" sz="1800" dirty="0"/>
            </a:p>
          </p:txBody>
        </p:sp>
        <p:pic>
          <p:nvPicPr>
            <p:cNvPr id="46" name="Image 4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17" y="-192303"/>
              <a:ext cx="2064866" cy="7295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647395" y="0"/>
            <a:ext cx="1143000" cy="758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647395" y="2009851"/>
            <a:ext cx="2578608" cy="44192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556309" y="2447849"/>
            <a:ext cx="761695" cy="761695"/>
          </a:xfrm>
          <a:prstGeom prst="roundRect">
            <a:avLst>
              <a:gd name="adj" fmla="val 2401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27" r="-27"/>
          <a:stretch/>
        </p:blipFill>
        <p:spPr>
          <a:xfrm>
            <a:off x="1722730" y="2657246"/>
            <a:ext cx="428854" cy="3429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38505" y="3438144"/>
            <a:ext cx="22009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Orchestration Omnicanale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l="-445" r="-445"/>
          <a:stretch/>
        </p:blipFill>
        <p:spPr>
          <a:xfrm>
            <a:off x="1746504" y="4276649"/>
            <a:ext cx="381305" cy="2834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38505" y="4457700"/>
            <a:ext cx="22009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Gestion unifiée des emails, SMS, WhatsApp, Web, Push et In-app pour une expérience client fluide et sans rupture.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t="-2" b="-2"/>
          <a:stretch/>
        </p:blipFill>
        <p:spPr>
          <a:xfrm>
            <a:off x="3455518" y="2009851"/>
            <a:ext cx="2578608" cy="4419295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4363517" y="2447849"/>
            <a:ext cx="761695" cy="761695"/>
          </a:xfrm>
          <a:prstGeom prst="roundRect">
            <a:avLst>
              <a:gd name="adj" fmla="val 2401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4592117" y="2657246"/>
            <a:ext cx="304495" cy="3429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3645713" y="3438144"/>
            <a:ext cx="22009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Intelligence Temps Réel</a:t>
            </a:r>
            <a:endParaRPr lang="en-US" sz="15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6"/>
          <a:srcRect l="-445" r="-445"/>
          <a:stretch/>
        </p:blipFill>
        <p:spPr>
          <a:xfrm>
            <a:off x="4553712" y="4276649"/>
            <a:ext cx="381305" cy="28346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3645713" y="4457700"/>
            <a:ext cx="220096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Déclencheurs comportementaux instantanés, suivi des statuts en direct et tableaux de bord dynamiques pour une réactivité maximale.</a:t>
            </a:r>
            <a:endParaRPr lang="en-US" sz="14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9"/>
          <a:srcRect t="-2" b="-2"/>
          <a:stretch/>
        </p:blipFill>
        <p:spPr>
          <a:xfrm>
            <a:off x="6262726" y="2009851"/>
            <a:ext cx="2578608" cy="4419295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7170725" y="2447849"/>
            <a:ext cx="761695" cy="761695"/>
          </a:xfrm>
          <a:prstGeom prst="roundRect">
            <a:avLst>
              <a:gd name="adj" fmla="val 2401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381037" y="2657246"/>
            <a:ext cx="342900" cy="34290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6452921" y="3438144"/>
            <a:ext cx="22009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Simplicité d'Usage</a:t>
            </a:r>
            <a:endParaRPr lang="en-US" sz="15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6"/>
          <a:srcRect l="-445" r="-445"/>
          <a:stretch/>
        </p:blipFill>
        <p:spPr>
          <a:xfrm>
            <a:off x="7361834" y="4276649"/>
            <a:ext cx="381305" cy="28346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6452921" y="4457700"/>
            <a:ext cx="22009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Interface intuitive no-code avec modèles prêts à l'emploi et workflows visuels pour accélérer la conception des campagnes.</a:t>
            </a:r>
            <a:endParaRPr lang="en-US" sz="140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9069934" y="2009851"/>
            <a:ext cx="2578608" cy="4419295"/>
          </a:xfrm>
          <a:prstGeom prst="rect">
            <a:avLst/>
          </a:prstGeom>
        </p:spPr>
      </p:pic>
      <p:sp>
        <p:nvSpPr>
          <p:cNvPr id="26" name="Shape 13"/>
          <p:cNvSpPr/>
          <p:nvPr/>
        </p:nvSpPr>
        <p:spPr>
          <a:xfrm>
            <a:off x="9978847" y="2447849"/>
            <a:ext cx="761695" cy="761695"/>
          </a:xfrm>
          <a:prstGeom prst="roundRect">
            <a:avLst>
              <a:gd name="adj" fmla="val 2401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188245" y="2657246"/>
            <a:ext cx="342900" cy="342900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9261043" y="3438144"/>
            <a:ext cx="22009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Spécialisation Bancaire</a:t>
            </a:r>
            <a:endParaRPr lang="en-US" sz="1500" dirty="0"/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6"/>
          <a:srcRect l="-445" r="-445"/>
          <a:stretch/>
        </p:blipFill>
        <p:spPr>
          <a:xfrm>
            <a:off x="10169042" y="4276649"/>
            <a:ext cx="381305" cy="28346"/>
          </a:xfrm>
          <a:prstGeom prst="rect">
            <a:avLst/>
          </a:prstGeom>
        </p:spPr>
      </p:pic>
      <p:sp>
        <p:nvSpPr>
          <p:cNvPr id="30" name="Text 15"/>
          <p:cNvSpPr txBox="1"/>
          <p:nvPr/>
        </p:nvSpPr>
        <p:spPr>
          <a:xfrm>
            <a:off x="9261043" y="4457700"/>
            <a:ext cx="22009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Parcours métiers natifs (onboarding, crédit, épargne, win-back) et conformité intégrée adaptés aux exigences du secteur.</a:t>
            </a:r>
            <a:endParaRPr lang="en-US" sz="1400" dirty="0"/>
          </a:p>
        </p:txBody>
      </p:sp>
      <p:sp>
        <p:nvSpPr>
          <p:cNvPr id="31" name="Text 16"/>
          <p:cNvSpPr txBox="1"/>
          <p:nvPr/>
        </p:nvSpPr>
        <p:spPr>
          <a:xfrm>
            <a:off x="647395" y="543154"/>
            <a:ext cx="111163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1F6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PROPOSITION DE VALEUR</a:t>
            </a:r>
            <a:endParaRPr lang="en-US" sz="1000" dirty="0"/>
          </a:p>
        </p:txBody>
      </p:sp>
      <p:sp>
        <p:nvSpPr>
          <p:cNvPr id="32" name="Text 17"/>
          <p:cNvSpPr txBox="1"/>
          <p:nvPr/>
        </p:nvSpPr>
        <p:spPr>
          <a:xfrm>
            <a:off x="838505" y="1042752"/>
            <a:ext cx="11192256" cy="410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Solution CampaignHub en 4 Piliers</a:t>
            </a:r>
            <a:endParaRPr lang="en-US" sz="2700" dirty="0"/>
          </a:p>
        </p:txBody>
      </p:sp>
      <p:sp>
        <p:nvSpPr>
          <p:cNvPr id="36" name="Shape 2"/>
          <p:cNvSpPr/>
          <p:nvPr/>
        </p:nvSpPr>
        <p:spPr>
          <a:xfrm>
            <a:off x="0" y="0"/>
            <a:ext cx="12191695" cy="4480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7" name="Shape 3"/>
          <p:cNvSpPr/>
          <p:nvPr/>
        </p:nvSpPr>
        <p:spPr>
          <a:xfrm>
            <a:off x="0" y="438912"/>
            <a:ext cx="12191695" cy="9144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89513" y="56693"/>
            <a:ext cx="466344" cy="323698"/>
          </a:xfrm>
          <a:prstGeom prst="rect">
            <a:avLst/>
          </a:prstGeom>
        </p:spPr>
      </p:pic>
      <p:sp>
        <p:nvSpPr>
          <p:cNvPr id="40" name="Text 6"/>
          <p:cNvSpPr/>
          <p:nvPr/>
        </p:nvSpPr>
        <p:spPr>
          <a:xfrm>
            <a:off x="11189513" y="56693"/>
            <a:ext cx="4672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endParaRPr lang="en-US" sz="1200" dirty="0"/>
          </a:p>
        </p:txBody>
      </p:sp>
      <p:sp>
        <p:nvSpPr>
          <p:cNvPr id="42" name="Shape 8"/>
          <p:cNvSpPr/>
          <p:nvPr/>
        </p:nvSpPr>
        <p:spPr>
          <a:xfrm>
            <a:off x="648310" y="1035101"/>
            <a:ext cx="57607" cy="418795"/>
          </a:xfrm>
          <a:prstGeom prst="roundRect">
            <a:avLst>
              <a:gd name="adj" fmla="val 793654"/>
            </a:avLst>
          </a:prstGeom>
          <a:solidFill>
            <a:srgbClr val="1F6A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CB4A4C08-E568-8709-765D-5279953AE3D2}"/>
              </a:ext>
            </a:extLst>
          </p:cNvPr>
          <p:cNvGrpSpPr/>
          <p:nvPr/>
        </p:nvGrpSpPr>
        <p:grpSpPr>
          <a:xfrm>
            <a:off x="540410" y="-192303"/>
            <a:ext cx="4385073" cy="729585"/>
            <a:chOff x="540410" y="-192303"/>
            <a:chExt cx="4385073" cy="729585"/>
          </a:xfrm>
        </p:grpSpPr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88260E45-381F-1A59-E198-16A77AE296B8}"/>
                </a:ext>
              </a:extLst>
            </p:cNvPr>
            <p:cNvSpPr txBox="1"/>
            <p:nvPr/>
          </p:nvSpPr>
          <p:spPr>
            <a:xfrm>
              <a:off x="540410" y="-7754"/>
              <a:ext cx="232020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 err="1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Campaign</a:t>
              </a:r>
              <a:r>
                <a:rPr lang="en-US" sz="1800" b="1" dirty="0" err="1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Hub</a:t>
              </a:r>
              <a:r>
                <a:rPr lang="en-US" sz="1800" b="1" dirty="0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by</a:t>
              </a:r>
              <a:endParaRPr lang="en-US" sz="1800" dirty="0"/>
            </a:p>
          </p:txBody>
        </p:sp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FA65DD23-0682-85F6-DD16-38296A877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17" y="-192303"/>
              <a:ext cx="2064866" cy="7295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6110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2"/>
          <p:cNvSpPr txBox="1"/>
          <p:nvPr/>
        </p:nvSpPr>
        <p:spPr>
          <a:xfrm>
            <a:off x="647395" y="543154"/>
            <a:ext cx="111163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1F6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TECHNIQUE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7395" y="801936"/>
            <a:ext cx="1119225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Architecture Modulaire en 7 Briques Clés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311810" y="1486814"/>
            <a:ext cx="254660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DONNÉES &amp; CIBLAGE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96723" y="3331254"/>
            <a:ext cx="254660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ORCHESTRATION &amp; EXÉCUTION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52748" y="5146760"/>
            <a:ext cx="254660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SUIVI &amp; PILOTAGE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397" b="-397"/>
          <a:stretch/>
        </p:blipFill>
        <p:spPr>
          <a:xfrm>
            <a:off x="1764675" y="5221430"/>
            <a:ext cx="9818161" cy="30924"/>
          </a:xfrm>
          <a:prstGeom prst="rect">
            <a:avLst/>
          </a:prstGeom>
        </p:spPr>
      </p:pic>
      <p:grpSp>
        <p:nvGrpSpPr>
          <p:cNvPr id="71" name="Groupe 70"/>
          <p:cNvGrpSpPr/>
          <p:nvPr/>
        </p:nvGrpSpPr>
        <p:grpSpPr>
          <a:xfrm>
            <a:off x="1449324" y="1819656"/>
            <a:ext cx="1524305" cy="1238098"/>
            <a:chOff x="1449324" y="1819656"/>
            <a:chExt cx="1524305" cy="1238098"/>
          </a:xfrm>
        </p:grpSpPr>
        <p:sp>
          <p:nvSpPr>
            <p:cNvPr id="20" name="Shape 10"/>
            <p:cNvSpPr/>
            <p:nvPr/>
          </p:nvSpPr>
          <p:spPr>
            <a:xfrm>
              <a:off x="1449324" y="1819656"/>
              <a:ext cx="1524305" cy="1238098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B2A4A">
                  <a:alpha val="5000"/>
                </a:srgbClr>
              </a:outerShdw>
            </a:effectLst>
          </p:spPr>
          <p:txBody>
            <a:bodyPr/>
            <a:lstStyle/>
            <a:p>
              <a:endParaRPr lang="fr-MA"/>
            </a:p>
          </p:txBody>
        </p:sp>
        <p:sp>
          <p:nvSpPr>
            <p:cNvPr id="21" name="Shape 11"/>
            <p:cNvSpPr/>
            <p:nvPr/>
          </p:nvSpPr>
          <p:spPr>
            <a:xfrm>
              <a:off x="1449324" y="1819656"/>
              <a:ext cx="1524305" cy="38405"/>
            </a:xfrm>
            <a:prstGeom prst="roundRect">
              <a:avLst>
                <a:gd name="adj" fmla="val 146519"/>
              </a:avLst>
            </a:prstGeom>
            <a:solidFill>
              <a:srgbClr val="64748B"/>
            </a:solidFill>
            <a:ln w="12700">
              <a:solidFill>
                <a:srgbClr val="64748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sp>
          <p:nvSpPr>
            <p:cNvPr id="22" name="Shape 12"/>
            <p:cNvSpPr/>
            <p:nvPr/>
          </p:nvSpPr>
          <p:spPr>
            <a:xfrm>
              <a:off x="2020824" y="2000707"/>
              <a:ext cx="381305" cy="247802"/>
            </a:xfrm>
            <a:prstGeom prst="roundRect">
              <a:avLst>
                <a:gd name="adj" fmla="val 184502"/>
              </a:avLst>
            </a:prstGeom>
            <a:solidFill>
              <a:srgbClr val="F1F5F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pic>
          <p:nvPicPr>
            <p:cNvPr id="23" name="Image 8" descr="preencoded.png"/>
            <p:cNvPicPr>
              <a:picLocks noChangeAspect="1"/>
            </p:cNvPicPr>
            <p:nvPr/>
          </p:nvPicPr>
          <p:blipFill>
            <a:blip r:embed="rId4"/>
            <a:srcRect l="-760" r="-760"/>
            <a:stretch/>
          </p:blipFill>
          <p:spPr>
            <a:xfrm>
              <a:off x="2135124" y="2038198"/>
              <a:ext cx="152705" cy="171907"/>
            </a:xfrm>
            <a:prstGeom prst="rect">
              <a:avLst/>
            </a:prstGeom>
          </p:spPr>
        </p:pic>
        <p:sp>
          <p:nvSpPr>
            <p:cNvPr id="24" name="Text 13"/>
            <p:cNvSpPr txBox="1"/>
            <p:nvPr/>
          </p:nvSpPr>
          <p:spPr>
            <a:xfrm>
              <a:off x="1817827" y="2343607"/>
              <a:ext cx="79095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Données</a:t>
              </a:r>
              <a:endParaRPr lang="en-US" sz="1200" dirty="0"/>
            </a:p>
          </p:txBody>
        </p:sp>
        <p:sp>
          <p:nvSpPr>
            <p:cNvPr id="25" name="Text 14"/>
            <p:cNvSpPr txBox="1"/>
            <p:nvPr/>
          </p:nvSpPr>
          <p:spPr>
            <a:xfrm>
              <a:off x="1844345" y="2572207"/>
              <a:ext cx="74340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DB, CSV, API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Core Banking</a:t>
              </a:r>
              <a:endParaRPr lang="en-US" sz="900" dirty="0"/>
            </a:p>
          </p:txBody>
        </p:sp>
      </p:grpSp>
      <p:grpSp>
        <p:nvGrpSpPr>
          <p:cNvPr id="70" name="Groupe 69"/>
          <p:cNvGrpSpPr/>
          <p:nvPr/>
        </p:nvGrpSpPr>
        <p:grpSpPr>
          <a:xfrm>
            <a:off x="5354726" y="1819656"/>
            <a:ext cx="1524305" cy="1238098"/>
            <a:chOff x="5354726" y="1819656"/>
            <a:chExt cx="1524305" cy="1238098"/>
          </a:xfrm>
        </p:grpSpPr>
        <p:sp>
          <p:nvSpPr>
            <p:cNvPr id="26" name="Shape 15"/>
            <p:cNvSpPr/>
            <p:nvPr/>
          </p:nvSpPr>
          <p:spPr>
            <a:xfrm>
              <a:off x="5354726" y="1819656"/>
              <a:ext cx="1524305" cy="1238098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B2A4A">
                  <a:alpha val="5000"/>
                </a:srgbClr>
              </a:outerShdw>
            </a:effectLst>
          </p:spPr>
          <p:txBody>
            <a:bodyPr/>
            <a:lstStyle/>
            <a:p>
              <a:endParaRPr lang="fr-MA"/>
            </a:p>
          </p:txBody>
        </p:sp>
        <p:sp>
          <p:nvSpPr>
            <p:cNvPr id="27" name="Shape 16"/>
            <p:cNvSpPr/>
            <p:nvPr/>
          </p:nvSpPr>
          <p:spPr>
            <a:xfrm>
              <a:off x="5354726" y="1819656"/>
              <a:ext cx="1524305" cy="38405"/>
            </a:xfrm>
            <a:prstGeom prst="roundRect">
              <a:avLst>
                <a:gd name="adj" fmla="val 146519"/>
              </a:avLst>
            </a:prstGeom>
            <a:solidFill>
              <a:srgbClr val="1F6AE1"/>
            </a:solidFill>
            <a:ln w="12700">
              <a:solidFill>
                <a:srgbClr val="1F6AE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sp>
          <p:nvSpPr>
            <p:cNvPr id="28" name="Shape 17"/>
            <p:cNvSpPr/>
            <p:nvPr/>
          </p:nvSpPr>
          <p:spPr>
            <a:xfrm>
              <a:off x="5926226" y="2000707"/>
              <a:ext cx="381305" cy="247802"/>
            </a:xfrm>
            <a:prstGeom prst="roundRect">
              <a:avLst>
                <a:gd name="adj" fmla="val 184502"/>
              </a:avLst>
            </a:prstGeom>
            <a:solidFill>
              <a:srgbClr val="F0F7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pic>
          <p:nvPicPr>
            <p:cNvPr id="29" name="Image 9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030468" y="2038198"/>
              <a:ext cx="171907" cy="171907"/>
            </a:xfrm>
            <a:prstGeom prst="rect">
              <a:avLst/>
            </a:prstGeom>
          </p:spPr>
        </p:pic>
        <p:sp>
          <p:nvSpPr>
            <p:cNvPr id="30" name="Text 18"/>
            <p:cNvSpPr txBox="1"/>
            <p:nvPr/>
          </p:nvSpPr>
          <p:spPr>
            <a:xfrm>
              <a:off x="5774436" y="2343607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Targets</a:t>
              </a:r>
              <a:endParaRPr lang="en-US" sz="1200" dirty="0"/>
            </a:p>
          </p:txBody>
        </p:sp>
        <p:sp>
          <p:nvSpPr>
            <p:cNvPr id="31" name="Text 19"/>
            <p:cNvSpPr txBox="1"/>
            <p:nvPr/>
          </p:nvSpPr>
          <p:spPr>
            <a:xfrm>
              <a:off x="5714086" y="2572207"/>
              <a:ext cx="81015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Segmentation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Ciblage avancé</a:t>
              </a:r>
              <a:endParaRPr lang="en-US" sz="900" dirty="0"/>
            </a:p>
          </p:txBody>
        </p:sp>
      </p:grpSp>
      <p:grpSp>
        <p:nvGrpSpPr>
          <p:cNvPr id="69" name="Groupe 68"/>
          <p:cNvGrpSpPr/>
          <p:nvPr/>
        </p:nvGrpSpPr>
        <p:grpSpPr>
          <a:xfrm>
            <a:off x="9323222" y="1819656"/>
            <a:ext cx="1524305" cy="1238098"/>
            <a:chOff x="9323222" y="1819656"/>
            <a:chExt cx="1524305" cy="1238098"/>
          </a:xfrm>
        </p:grpSpPr>
        <p:sp>
          <p:nvSpPr>
            <p:cNvPr id="32" name="Shape 20"/>
            <p:cNvSpPr/>
            <p:nvPr/>
          </p:nvSpPr>
          <p:spPr>
            <a:xfrm>
              <a:off x="9323222" y="1819656"/>
              <a:ext cx="1524305" cy="1238098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B2A4A">
                  <a:alpha val="5000"/>
                </a:srgbClr>
              </a:outerShdw>
            </a:effectLst>
          </p:spPr>
          <p:txBody>
            <a:bodyPr/>
            <a:lstStyle/>
            <a:p>
              <a:endParaRPr lang="fr-MA"/>
            </a:p>
          </p:txBody>
        </p:sp>
        <p:sp>
          <p:nvSpPr>
            <p:cNvPr id="33" name="Shape 21"/>
            <p:cNvSpPr/>
            <p:nvPr/>
          </p:nvSpPr>
          <p:spPr>
            <a:xfrm>
              <a:off x="9323222" y="1819656"/>
              <a:ext cx="1524305" cy="38405"/>
            </a:xfrm>
            <a:prstGeom prst="roundRect">
              <a:avLst>
                <a:gd name="adj" fmla="val 146519"/>
              </a:avLst>
            </a:prstGeom>
            <a:solidFill>
              <a:srgbClr val="1F6AE1"/>
            </a:solidFill>
            <a:ln w="12700">
              <a:solidFill>
                <a:srgbClr val="1F6AE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sp>
          <p:nvSpPr>
            <p:cNvPr id="34" name="Shape 22"/>
            <p:cNvSpPr/>
            <p:nvPr/>
          </p:nvSpPr>
          <p:spPr>
            <a:xfrm>
              <a:off x="9894722" y="2000707"/>
              <a:ext cx="381305" cy="247802"/>
            </a:xfrm>
            <a:prstGeom prst="roundRect">
              <a:avLst>
                <a:gd name="adj" fmla="val 184502"/>
              </a:avLst>
            </a:prstGeom>
            <a:solidFill>
              <a:srgbClr val="F0F7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pic>
          <p:nvPicPr>
            <p:cNvPr id="35" name="Image 10" descr="preencoded.png"/>
            <p:cNvPicPr>
              <a:picLocks noChangeAspect="1"/>
            </p:cNvPicPr>
            <p:nvPr/>
          </p:nvPicPr>
          <p:blipFill>
            <a:blip r:embed="rId6"/>
            <a:srcRect l="-1064" r="-1064"/>
            <a:stretch/>
          </p:blipFill>
          <p:spPr>
            <a:xfrm>
              <a:off x="9976104" y="2038198"/>
              <a:ext cx="219456" cy="171907"/>
            </a:xfrm>
            <a:prstGeom prst="rect">
              <a:avLst/>
            </a:prstGeom>
          </p:spPr>
        </p:pic>
        <p:sp>
          <p:nvSpPr>
            <p:cNvPr id="36" name="Text 23"/>
            <p:cNvSpPr txBox="1"/>
            <p:nvPr/>
          </p:nvSpPr>
          <p:spPr>
            <a:xfrm>
              <a:off x="9757562" y="2343607"/>
              <a:ext cx="6574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Clients</a:t>
              </a:r>
              <a:endParaRPr lang="en-US" sz="1200" dirty="0"/>
            </a:p>
          </p:txBody>
        </p:sp>
        <p:sp>
          <p:nvSpPr>
            <p:cNvPr id="37" name="Text 24"/>
            <p:cNvSpPr txBox="1"/>
            <p:nvPr/>
          </p:nvSpPr>
          <p:spPr>
            <a:xfrm>
              <a:off x="9592056" y="2572207"/>
              <a:ext cx="99121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Référentiel unique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Vue 360°</a:t>
              </a:r>
              <a:endParaRPr lang="en-US" sz="900" dirty="0"/>
            </a:p>
          </p:txBody>
        </p:sp>
      </p:grpSp>
      <p:grpSp>
        <p:nvGrpSpPr>
          <p:cNvPr id="72" name="Groupe 71"/>
          <p:cNvGrpSpPr/>
          <p:nvPr/>
        </p:nvGrpSpPr>
        <p:grpSpPr>
          <a:xfrm>
            <a:off x="1449324" y="3697386"/>
            <a:ext cx="1524305" cy="1238098"/>
            <a:chOff x="1449324" y="3438144"/>
            <a:chExt cx="1524305" cy="1238098"/>
          </a:xfrm>
        </p:grpSpPr>
        <p:sp>
          <p:nvSpPr>
            <p:cNvPr id="38" name="Shape 25"/>
            <p:cNvSpPr/>
            <p:nvPr/>
          </p:nvSpPr>
          <p:spPr>
            <a:xfrm>
              <a:off x="1449324" y="3438144"/>
              <a:ext cx="1524305" cy="1238098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B2A4A">
                  <a:alpha val="5000"/>
                </a:srgbClr>
              </a:outerShdw>
            </a:effectLst>
          </p:spPr>
          <p:txBody>
            <a:bodyPr/>
            <a:lstStyle/>
            <a:p>
              <a:endParaRPr lang="fr-MA"/>
            </a:p>
          </p:txBody>
        </p:sp>
        <p:sp>
          <p:nvSpPr>
            <p:cNvPr id="39" name="Shape 26"/>
            <p:cNvSpPr/>
            <p:nvPr/>
          </p:nvSpPr>
          <p:spPr>
            <a:xfrm>
              <a:off x="1449324" y="3438144"/>
              <a:ext cx="1524305" cy="38405"/>
            </a:xfrm>
            <a:prstGeom prst="roundRect">
              <a:avLst>
                <a:gd name="adj" fmla="val 146519"/>
              </a:avLst>
            </a:prstGeom>
            <a:solidFill>
              <a:srgbClr val="1F6AE1"/>
            </a:solidFill>
            <a:ln w="12700">
              <a:solidFill>
                <a:srgbClr val="1F6AE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sp>
          <p:nvSpPr>
            <p:cNvPr id="40" name="Shape 27"/>
            <p:cNvSpPr/>
            <p:nvPr/>
          </p:nvSpPr>
          <p:spPr>
            <a:xfrm>
              <a:off x="2020824" y="3619195"/>
              <a:ext cx="381305" cy="247802"/>
            </a:xfrm>
            <a:prstGeom prst="roundRect">
              <a:avLst>
                <a:gd name="adj" fmla="val 184502"/>
              </a:avLst>
            </a:prstGeom>
            <a:solidFill>
              <a:srgbClr val="F0F7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pic>
          <p:nvPicPr>
            <p:cNvPr id="41" name="Image 11" descr="preencoded.png"/>
            <p:cNvPicPr>
              <a:picLocks noChangeAspect="1"/>
            </p:cNvPicPr>
            <p:nvPr/>
          </p:nvPicPr>
          <p:blipFill>
            <a:blip r:embed="rId7"/>
            <a:srcRect t="-842" b="-842"/>
            <a:stretch/>
          </p:blipFill>
          <p:spPr>
            <a:xfrm>
              <a:off x="2115922" y="3657600"/>
              <a:ext cx="190195" cy="171907"/>
            </a:xfrm>
            <a:prstGeom prst="rect">
              <a:avLst/>
            </a:prstGeom>
          </p:spPr>
        </p:pic>
        <p:sp>
          <p:nvSpPr>
            <p:cNvPr id="42" name="Text 28"/>
            <p:cNvSpPr txBox="1"/>
            <p:nvPr/>
          </p:nvSpPr>
          <p:spPr>
            <a:xfrm>
              <a:off x="1886407" y="3962095"/>
              <a:ext cx="6574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Models</a:t>
              </a:r>
              <a:endParaRPr lang="en-US" sz="1200" dirty="0"/>
            </a:p>
          </p:txBody>
        </p:sp>
        <p:sp>
          <p:nvSpPr>
            <p:cNvPr id="43" name="Text 29"/>
            <p:cNvSpPr txBox="1"/>
            <p:nvPr/>
          </p:nvSpPr>
          <p:spPr>
            <a:xfrm>
              <a:off x="1861718" y="4190695"/>
              <a:ext cx="705002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Templates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Bibliothèque</a:t>
              </a:r>
              <a:endParaRPr lang="en-US" sz="900" dirty="0"/>
            </a:p>
          </p:txBody>
        </p:sp>
      </p:grp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5790969" y="5794650"/>
            <a:ext cx="336353" cy="539028"/>
          </a:xfrm>
          <a:prstGeom prst="rect">
            <a:avLst/>
          </a:prstGeom>
        </p:spPr>
      </p:pic>
      <p:grpSp>
        <p:nvGrpSpPr>
          <p:cNvPr id="75" name="Groupe 74"/>
          <p:cNvGrpSpPr/>
          <p:nvPr/>
        </p:nvGrpSpPr>
        <p:grpSpPr>
          <a:xfrm>
            <a:off x="5259629" y="3601832"/>
            <a:ext cx="1714500" cy="1429207"/>
            <a:chOff x="5259629" y="3343046"/>
            <a:chExt cx="1714500" cy="1429207"/>
          </a:xfrm>
        </p:grpSpPr>
        <p:sp>
          <p:nvSpPr>
            <p:cNvPr id="44" name="Shape 30"/>
            <p:cNvSpPr/>
            <p:nvPr/>
          </p:nvSpPr>
          <p:spPr>
            <a:xfrm>
              <a:off x="5259629" y="3343046"/>
              <a:ext cx="1714500" cy="1429207"/>
            </a:xfrm>
            <a:prstGeom prst="roundRect">
              <a:avLst>
                <a:gd name="adj" fmla="val 3412"/>
              </a:avLst>
            </a:prstGeom>
            <a:solidFill>
              <a:srgbClr val="FFFFFF"/>
            </a:solidFill>
            <a:ln w="25400">
              <a:solidFill>
                <a:srgbClr val="27C7FF"/>
              </a:solidFill>
              <a:prstDash val="solid"/>
            </a:ln>
            <a:effectLst>
              <a:outerShdw blurRad="63500" dist="38100" dir="16200000" algn="bl" rotWithShape="0">
                <a:srgbClr val="0B2A4A">
                  <a:alpha val="5000"/>
                </a:srgbClr>
              </a:outerShdw>
            </a:effectLst>
          </p:spPr>
          <p:txBody>
            <a:bodyPr/>
            <a:lstStyle/>
            <a:p>
              <a:endParaRPr lang="fr-MA"/>
            </a:p>
          </p:txBody>
        </p:sp>
        <p:sp>
          <p:nvSpPr>
            <p:cNvPr id="45" name="Shape 31"/>
            <p:cNvSpPr/>
            <p:nvPr/>
          </p:nvSpPr>
          <p:spPr>
            <a:xfrm>
              <a:off x="5259629" y="3343046"/>
              <a:ext cx="1714500" cy="57607"/>
            </a:xfrm>
            <a:prstGeom prst="roundRect">
              <a:avLst>
                <a:gd name="adj" fmla="val 84656"/>
              </a:avLst>
            </a:prstGeom>
            <a:solidFill>
              <a:srgbClr val="27C7FF"/>
            </a:solidFill>
            <a:ln w="12700">
              <a:solidFill>
                <a:srgbClr val="27C7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sp>
          <p:nvSpPr>
            <p:cNvPr id="46" name="Shape 32"/>
            <p:cNvSpPr/>
            <p:nvPr/>
          </p:nvSpPr>
          <p:spPr>
            <a:xfrm>
              <a:off x="5878678" y="3543300"/>
              <a:ext cx="476402" cy="371246"/>
            </a:xfrm>
            <a:prstGeom prst="roundRect">
              <a:avLst>
                <a:gd name="adj" fmla="val 123153"/>
              </a:avLst>
            </a:prstGeom>
            <a:solidFill>
              <a:srgbClr val="E0F2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pic>
          <p:nvPicPr>
            <p:cNvPr id="47" name="Image 12" descr="preencoded.png"/>
            <p:cNvPicPr>
              <a:picLocks noChangeAspect="1"/>
            </p:cNvPicPr>
            <p:nvPr/>
          </p:nvPicPr>
          <p:blipFill>
            <a:blip r:embed="rId9"/>
            <a:srcRect l="-80" r="-80"/>
            <a:stretch/>
          </p:blipFill>
          <p:spPr>
            <a:xfrm>
              <a:off x="5973775" y="3614623"/>
              <a:ext cx="286207" cy="228600"/>
            </a:xfrm>
            <a:prstGeom prst="rect">
              <a:avLst/>
            </a:prstGeom>
          </p:spPr>
        </p:pic>
        <p:sp>
          <p:nvSpPr>
            <p:cNvPr id="48" name="Text 33"/>
            <p:cNvSpPr txBox="1"/>
            <p:nvPr/>
          </p:nvSpPr>
          <p:spPr>
            <a:xfrm>
              <a:off x="5572354" y="4009644"/>
              <a:ext cx="1095451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Campaigns</a:t>
              </a:r>
              <a:endParaRPr lang="en-US" sz="1300" dirty="0"/>
            </a:p>
          </p:txBody>
        </p:sp>
        <p:sp>
          <p:nvSpPr>
            <p:cNvPr id="49" name="Text 34"/>
            <p:cNvSpPr txBox="1"/>
            <p:nvPr/>
          </p:nvSpPr>
          <p:spPr>
            <a:xfrm>
              <a:off x="5504688" y="4267505"/>
              <a:ext cx="1228954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Moteur d'orchestration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Workflows &amp; Règles</a:t>
              </a:r>
              <a:endParaRPr lang="en-US" sz="900" dirty="0"/>
            </a:p>
          </p:txBody>
        </p:sp>
      </p:grpSp>
      <p:grpSp>
        <p:nvGrpSpPr>
          <p:cNvPr id="73" name="Groupe 72"/>
          <p:cNvGrpSpPr/>
          <p:nvPr/>
        </p:nvGrpSpPr>
        <p:grpSpPr>
          <a:xfrm>
            <a:off x="9323222" y="3697386"/>
            <a:ext cx="1524305" cy="1238098"/>
            <a:chOff x="9323222" y="3438144"/>
            <a:chExt cx="1524305" cy="1238098"/>
          </a:xfrm>
        </p:grpSpPr>
        <p:sp>
          <p:nvSpPr>
            <p:cNvPr id="50" name="Shape 35"/>
            <p:cNvSpPr/>
            <p:nvPr/>
          </p:nvSpPr>
          <p:spPr>
            <a:xfrm>
              <a:off x="9323222" y="3438144"/>
              <a:ext cx="1524305" cy="1238098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B2A4A">
                  <a:alpha val="5000"/>
                </a:srgbClr>
              </a:outerShdw>
            </a:effectLst>
          </p:spPr>
          <p:txBody>
            <a:bodyPr/>
            <a:lstStyle/>
            <a:p>
              <a:endParaRPr lang="fr-MA"/>
            </a:p>
          </p:txBody>
        </p:sp>
        <p:sp>
          <p:nvSpPr>
            <p:cNvPr id="51" name="Shape 36"/>
            <p:cNvSpPr/>
            <p:nvPr/>
          </p:nvSpPr>
          <p:spPr>
            <a:xfrm>
              <a:off x="9323222" y="3438144"/>
              <a:ext cx="1524305" cy="38405"/>
            </a:xfrm>
            <a:prstGeom prst="roundRect">
              <a:avLst>
                <a:gd name="adj" fmla="val 146519"/>
              </a:avLst>
            </a:prstGeom>
            <a:solidFill>
              <a:srgbClr val="10B981"/>
            </a:solidFill>
            <a:ln w="12700">
              <a:solidFill>
                <a:srgbClr val="10B98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sp>
          <p:nvSpPr>
            <p:cNvPr id="52" name="Shape 37"/>
            <p:cNvSpPr/>
            <p:nvPr/>
          </p:nvSpPr>
          <p:spPr>
            <a:xfrm>
              <a:off x="9894722" y="3619195"/>
              <a:ext cx="381305" cy="171907"/>
            </a:xfrm>
            <a:prstGeom prst="roundRect">
              <a:avLst>
                <a:gd name="adj" fmla="val 265958"/>
              </a:avLst>
            </a:prstGeom>
            <a:solidFill>
              <a:srgbClr val="ECFDF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pic>
          <p:nvPicPr>
            <p:cNvPr id="53" name="Image 13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9999878" y="3619195"/>
              <a:ext cx="171907" cy="171907"/>
            </a:xfrm>
            <a:prstGeom prst="rect">
              <a:avLst/>
            </a:prstGeom>
          </p:spPr>
        </p:pic>
        <p:sp>
          <p:nvSpPr>
            <p:cNvPr id="54" name="Text 38"/>
            <p:cNvSpPr txBox="1"/>
            <p:nvPr/>
          </p:nvSpPr>
          <p:spPr>
            <a:xfrm>
              <a:off x="9560052" y="3886200"/>
              <a:ext cx="105796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Module CRC</a:t>
              </a:r>
              <a:endParaRPr lang="en-US" sz="1200" dirty="0"/>
            </a:p>
          </p:txBody>
        </p:sp>
        <p:sp>
          <p:nvSpPr>
            <p:cNvPr id="55" name="Text 39"/>
            <p:cNvSpPr txBox="1"/>
            <p:nvPr/>
          </p:nvSpPr>
          <p:spPr>
            <a:xfrm>
              <a:off x="9437522" y="4114800"/>
              <a:ext cx="1295705" cy="5148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CC (Contact Client)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DA (Détection Anomalies)</a:t>
              </a:r>
              <a:endParaRPr lang="en-US" sz="900" dirty="0"/>
            </a:p>
          </p:txBody>
        </p:sp>
      </p:grpSp>
      <p:sp>
        <p:nvSpPr>
          <p:cNvPr id="56" name="Shape 40"/>
          <p:cNvSpPr/>
          <p:nvPr/>
        </p:nvSpPr>
        <p:spPr>
          <a:xfrm>
            <a:off x="3365003" y="5331275"/>
            <a:ext cx="1524305" cy="1429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B2A4A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57" name="Shape 41"/>
          <p:cNvSpPr/>
          <p:nvPr/>
        </p:nvSpPr>
        <p:spPr>
          <a:xfrm>
            <a:off x="3365003" y="5331275"/>
            <a:ext cx="1524305" cy="38405"/>
          </a:xfrm>
          <a:prstGeom prst="roundRect">
            <a:avLst>
              <a:gd name="adj" fmla="val 146519"/>
            </a:avLst>
          </a:prstGeom>
          <a:solidFill>
            <a:srgbClr val="1F6AE1"/>
          </a:solidFill>
          <a:ln w="12700">
            <a:solidFill>
              <a:srgbClr val="1F6A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8" name="Shape 42"/>
          <p:cNvSpPr/>
          <p:nvPr/>
        </p:nvSpPr>
        <p:spPr>
          <a:xfrm>
            <a:off x="3936503" y="5512326"/>
            <a:ext cx="381305" cy="247802"/>
          </a:xfrm>
          <a:prstGeom prst="roundRect">
            <a:avLst>
              <a:gd name="adj" fmla="val 184502"/>
            </a:avLst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041659" y="5550731"/>
            <a:ext cx="171907" cy="171907"/>
          </a:xfrm>
          <a:prstGeom prst="rect">
            <a:avLst/>
          </a:prstGeom>
        </p:spPr>
      </p:pic>
      <p:sp>
        <p:nvSpPr>
          <p:cNvPr id="60" name="Text 43"/>
          <p:cNvSpPr txBox="1"/>
          <p:nvPr/>
        </p:nvSpPr>
        <p:spPr>
          <a:xfrm>
            <a:off x="3787456" y="5855226"/>
            <a:ext cx="6803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History</a:t>
            </a:r>
            <a:endParaRPr lang="en-US" sz="1200" dirty="0"/>
          </a:p>
        </p:txBody>
      </p:sp>
      <p:sp>
        <p:nvSpPr>
          <p:cNvPr id="61" name="Text 44"/>
          <p:cNvSpPr txBox="1"/>
          <p:nvPr/>
        </p:nvSpPr>
        <p:spPr>
          <a:xfrm>
            <a:off x="3696930" y="6083826"/>
            <a:ext cx="8668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 trail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Statuts détaillés</a:t>
            </a:r>
            <a:endParaRPr lang="en-US" sz="900" dirty="0"/>
          </a:p>
        </p:txBody>
      </p:sp>
      <p:sp>
        <p:nvSpPr>
          <p:cNvPr id="62" name="Shape 45"/>
          <p:cNvSpPr/>
          <p:nvPr/>
        </p:nvSpPr>
        <p:spPr>
          <a:xfrm>
            <a:off x="7238402" y="5330814"/>
            <a:ext cx="1522800" cy="1429207"/>
          </a:xfrm>
          <a:prstGeom prst="roundRect">
            <a:avLst>
              <a:gd name="adj" fmla="val 341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B2A4A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63" name="Shape 46"/>
          <p:cNvSpPr/>
          <p:nvPr/>
        </p:nvSpPr>
        <p:spPr>
          <a:xfrm>
            <a:off x="7253313" y="5330814"/>
            <a:ext cx="1474475" cy="38405"/>
          </a:xfrm>
          <a:prstGeom prst="roundRect">
            <a:avLst>
              <a:gd name="adj" fmla="val 126983"/>
            </a:avLst>
          </a:prstGeom>
          <a:solidFill>
            <a:srgbClr val="F4B400"/>
          </a:solidFill>
          <a:ln w="12700">
            <a:solidFill>
              <a:srgbClr val="F4B4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4" name="Shape 47"/>
          <p:cNvSpPr/>
          <p:nvPr/>
        </p:nvSpPr>
        <p:spPr>
          <a:xfrm>
            <a:off x="7857450" y="5511866"/>
            <a:ext cx="476402" cy="437998"/>
          </a:xfrm>
          <a:prstGeom prst="roundRect">
            <a:avLst>
              <a:gd name="adj" fmla="val 104384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65" name="Image 15" descr="preencoded.png"/>
          <p:cNvPicPr>
            <a:picLocks noChangeAspect="1"/>
          </p:cNvPicPr>
          <p:nvPr/>
        </p:nvPicPr>
        <p:blipFill>
          <a:blip r:embed="rId12"/>
          <a:srcRect t="-45" b="-45"/>
          <a:stretch/>
        </p:blipFill>
        <p:spPr>
          <a:xfrm>
            <a:off x="7967178" y="5617022"/>
            <a:ext cx="256946" cy="228600"/>
          </a:xfrm>
          <a:prstGeom prst="rect">
            <a:avLst/>
          </a:prstGeom>
        </p:spPr>
      </p:pic>
      <p:sp>
        <p:nvSpPr>
          <p:cNvPr id="66" name="Text 48"/>
          <p:cNvSpPr txBox="1"/>
          <p:nvPr/>
        </p:nvSpPr>
        <p:spPr>
          <a:xfrm>
            <a:off x="7620621" y="6045875"/>
            <a:ext cx="952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67" name="Text 49"/>
          <p:cNvSpPr txBox="1"/>
          <p:nvPr/>
        </p:nvSpPr>
        <p:spPr>
          <a:xfrm>
            <a:off x="7587702" y="6274475"/>
            <a:ext cx="10195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Pilotage temps réel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KPIs &amp; ROI</a:t>
            </a:r>
            <a:endParaRPr lang="en-US" sz="900" dirty="0"/>
          </a:p>
        </p:txBody>
      </p:sp>
      <p:pic>
        <p:nvPicPr>
          <p:cNvPr id="68" name="Image 1" descr="preencoded.png"/>
          <p:cNvPicPr>
            <a:picLocks noChangeAspect="1"/>
          </p:cNvPicPr>
          <p:nvPr/>
        </p:nvPicPr>
        <p:blipFill>
          <a:blip r:embed="rId3"/>
          <a:srcRect t="-397" b="-397"/>
          <a:stretch/>
        </p:blipFill>
        <p:spPr>
          <a:xfrm>
            <a:off x="2147777" y="1556644"/>
            <a:ext cx="9435059" cy="29718"/>
          </a:xfrm>
          <a:prstGeom prst="rect">
            <a:avLst/>
          </a:prstGeom>
        </p:spPr>
      </p:pic>
      <p:pic>
        <p:nvPicPr>
          <p:cNvPr id="76" name="Image 7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 rot="10800000">
            <a:off x="3829849" y="4066123"/>
            <a:ext cx="336353" cy="539028"/>
          </a:xfrm>
          <a:prstGeom prst="rect">
            <a:avLst/>
          </a:prstGeom>
        </p:spPr>
      </p:pic>
      <p:pic>
        <p:nvPicPr>
          <p:cNvPr id="77" name="Image 7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 rot="10800000">
            <a:off x="7927474" y="4043471"/>
            <a:ext cx="336353" cy="539028"/>
          </a:xfrm>
          <a:prstGeom prst="rect">
            <a:avLst/>
          </a:prstGeom>
        </p:spPr>
      </p:pic>
      <p:pic>
        <p:nvPicPr>
          <p:cNvPr id="78" name="Image 7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 rot="10800000">
            <a:off x="3829849" y="2304180"/>
            <a:ext cx="336353" cy="539028"/>
          </a:xfrm>
          <a:prstGeom prst="rect">
            <a:avLst/>
          </a:prstGeom>
        </p:spPr>
      </p:pic>
      <p:pic>
        <p:nvPicPr>
          <p:cNvPr id="79" name="Image 7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 rot="10800000">
            <a:off x="7927474" y="2281528"/>
            <a:ext cx="336353" cy="539028"/>
          </a:xfrm>
          <a:prstGeom prst="rect">
            <a:avLst/>
          </a:prstGeom>
        </p:spPr>
      </p:pic>
      <p:pic>
        <p:nvPicPr>
          <p:cNvPr id="80" name="Image 1" descr="preencoded.png"/>
          <p:cNvPicPr>
            <a:picLocks noChangeAspect="1"/>
          </p:cNvPicPr>
          <p:nvPr/>
        </p:nvPicPr>
        <p:blipFill>
          <a:blip r:embed="rId3"/>
          <a:srcRect t="-397" b="-397"/>
          <a:stretch/>
        </p:blipFill>
        <p:spPr>
          <a:xfrm>
            <a:off x="2626792" y="3417867"/>
            <a:ext cx="8925599" cy="28113"/>
          </a:xfrm>
          <a:prstGeom prst="rect">
            <a:avLst/>
          </a:prstGeom>
        </p:spPr>
      </p:pic>
      <p:pic>
        <p:nvPicPr>
          <p:cNvPr id="81" name="Image 0" descr="preencoded.png"/>
          <p:cNvPicPr>
            <a:picLocks noChangeAspect="1"/>
          </p:cNvPicPr>
          <p:nvPr/>
        </p:nvPicPr>
        <p:blipFill>
          <a:blip r:embed="rId13"/>
          <a:srcRect l="-201" r="-201"/>
          <a:stretch/>
        </p:blipFill>
        <p:spPr>
          <a:xfrm>
            <a:off x="647395" y="0"/>
            <a:ext cx="1143000" cy="75895"/>
          </a:xfrm>
          <a:prstGeom prst="rect">
            <a:avLst/>
          </a:prstGeom>
        </p:spPr>
      </p:pic>
      <p:sp>
        <p:nvSpPr>
          <p:cNvPr id="82" name="Shape 2"/>
          <p:cNvSpPr/>
          <p:nvPr/>
        </p:nvSpPr>
        <p:spPr>
          <a:xfrm>
            <a:off x="0" y="0"/>
            <a:ext cx="12191695" cy="4480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83" name="Shape 3"/>
          <p:cNvSpPr/>
          <p:nvPr/>
        </p:nvSpPr>
        <p:spPr>
          <a:xfrm>
            <a:off x="0" y="438912"/>
            <a:ext cx="12191695" cy="9144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85" name="Image 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89513" y="56693"/>
            <a:ext cx="466344" cy="323698"/>
          </a:xfrm>
          <a:prstGeom prst="rect">
            <a:avLst/>
          </a:prstGeom>
        </p:spPr>
      </p:pic>
      <p:sp>
        <p:nvSpPr>
          <p:cNvPr id="86" name="Text 6"/>
          <p:cNvSpPr/>
          <p:nvPr/>
        </p:nvSpPr>
        <p:spPr>
          <a:xfrm>
            <a:off x="11189513" y="56693"/>
            <a:ext cx="4672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</a:t>
            </a:r>
            <a:endParaRPr lang="en-US" sz="1200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781DFE98-3CE9-2B76-C2F9-E0E5A82D8C27}"/>
              </a:ext>
            </a:extLst>
          </p:cNvPr>
          <p:cNvGrpSpPr/>
          <p:nvPr/>
        </p:nvGrpSpPr>
        <p:grpSpPr>
          <a:xfrm>
            <a:off x="540410" y="-192303"/>
            <a:ext cx="4385073" cy="729585"/>
            <a:chOff x="540410" y="-192303"/>
            <a:chExt cx="4385073" cy="729585"/>
          </a:xfrm>
        </p:grpSpPr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0533DAFE-1860-1567-8903-57063BBE6113}"/>
                </a:ext>
              </a:extLst>
            </p:cNvPr>
            <p:cNvSpPr txBox="1"/>
            <p:nvPr/>
          </p:nvSpPr>
          <p:spPr>
            <a:xfrm>
              <a:off x="540410" y="-7754"/>
              <a:ext cx="232020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 err="1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Campaign</a:t>
              </a:r>
              <a:r>
                <a:rPr lang="en-US" sz="1800" b="1" dirty="0" err="1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Hub</a:t>
              </a:r>
              <a:r>
                <a:rPr lang="en-US" sz="1800" b="1" dirty="0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by</a:t>
              </a:r>
              <a:endParaRPr lang="en-US" sz="1800" dirty="0"/>
            </a:p>
          </p:txBody>
        </p:sp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B5030E5D-1F08-6E00-5A56-EFAB26CCA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17" y="-192303"/>
              <a:ext cx="2064866" cy="729585"/>
            </a:xfrm>
            <a:prstGeom prst="rect">
              <a:avLst/>
            </a:prstGeom>
          </p:spPr>
        </p:pic>
      </p:grpSp>
      <p:sp>
        <p:nvSpPr>
          <p:cNvPr id="13" name="Shape 8">
            <a:extLst>
              <a:ext uri="{FF2B5EF4-FFF2-40B4-BE49-F238E27FC236}">
                <a16:creationId xmlns:a16="http://schemas.microsoft.com/office/drawing/2014/main" id="{13AE167E-580C-0740-51E4-C56B8D3F7B3F}"/>
              </a:ext>
            </a:extLst>
          </p:cNvPr>
          <p:cNvSpPr/>
          <p:nvPr/>
        </p:nvSpPr>
        <p:spPr>
          <a:xfrm>
            <a:off x="490547" y="881241"/>
            <a:ext cx="57607" cy="418795"/>
          </a:xfrm>
          <a:prstGeom prst="roundRect">
            <a:avLst>
              <a:gd name="adj" fmla="val 793654"/>
            </a:avLst>
          </a:prstGeom>
          <a:solidFill>
            <a:srgbClr val="1F6A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794054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95691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480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0" y="438912"/>
            <a:ext cx="12191695" cy="9144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513" y="56693"/>
            <a:ext cx="466344" cy="3236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89513" y="56693"/>
            <a:ext cx="4672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Shape 4"/>
          <p:cNvSpPr/>
          <p:nvPr/>
        </p:nvSpPr>
        <p:spPr>
          <a:xfrm>
            <a:off x="650137" y="1724213"/>
            <a:ext cx="10419769" cy="79644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B2A4A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0" name="Shape 5"/>
          <p:cNvSpPr/>
          <p:nvPr/>
        </p:nvSpPr>
        <p:spPr>
          <a:xfrm>
            <a:off x="650137" y="1724213"/>
            <a:ext cx="57032" cy="796442"/>
          </a:xfrm>
          <a:prstGeom prst="roundRect">
            <a:avLst>
              <a:gd name="adj" fmla="val 198413"/>
            </a:avLst>
          </a:prstGeom>
          <a:solidFill>
            <a:srgbClr val="1F6AE1"/>
          </a:solidFill>
          <a:ln w="12700">
            <a:solidFill>
              <a:srgbClr val="1F6A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1" name="Shape 6"/>
          <p:cNvSpPr/>
          <p:nvPr/>
        </p:nvSpPr>
        <p:spPr>
          <a:xfrm>
            <a:off x="933489" y="1890670"/>
            <a:ext cx="527778" cy="464326"/>
          </a:xfrm>
          <a:prstGeom prst="ellipse">
            <a:avLst/>
          </a:prstGeom>
          <a:solidFill>
            <a:srgbClr val="E6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84671" y="2022879"/>
            <a:ext cx="226320" cy="199111"/>
          </a:xfrm>
          <a:prstGeom prst="rect">
            <a:avLst/>
          </a:prstGeom>
        </p:spPr>
      </p:pic>
      <p:sp>
        <p:nvSpPr>
          <p:cNvPr id="33" name="Text 7"/>
          <p:cNvSpPr txBox="1"/>
          <p:nvPr/>
        </p:nvSpPr>
        <p:spPr>
          <a:xfrm>
            <a:off x="1687588" y="1904209"/>
            <a:ext cx="9270064" cy="224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Accélérer la Mise en Marché</a:t>
            </a:r>
            <a:endParaRPr lang="en-US" sz="1300" dirty="0"/>
          </a:p>
        </p:txBody>
      </p:sp>
      <p:sp>
        <p:nvSpPr>
          <p:cNvPr id="34" name="Text 8"/>
          <p:cNvSpPr txBox="1"/>
          <p:nvPr/>
        </p:nvSpPr>
        <p:spPr>
          <a:xfrm>
            <a:off x="1687588" y="2178185"/>
            <a:ext cx="9835863" cy="166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Réduction du time-to-market de 85% grâce aux modèles prêts à l'emploi et aux workflows automatisés, passant de plusieurs semaines à quelques jours.</a:t>
            </a:r>
            <a:endParaRPr lang="en-US" sz="1000" dirty="0"/>
          </a:p>
        </p:txBody>
      </p:sp>
      <p:sp>
        <p:nvSpPr>
          <p:cNvPr id="35" name="Shape 9"/>
          <p:cNvSpPr/>
          <p:nvPr/>
        </p:nvSpPr>
        <p:spPr>
          <a:xfrm>
            <a:off x="650137" y="2719766"/>
            <a:ext cx="10419769" cy="79644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B2A4A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6" name="Shape 10"/>
          <p:cNvSpPr/>
          <p:nvPr/>
        </p:nvSpPr>
        <p:spPr>
          <a:xfrm>
            <a:off x="650137" y="2719766"/>
            <a:ext cx="57032" cy="796442"/>
          </a:xfrm>
          <a:prstGeom prst="roundRect">
            <a:avLst>
              <a:gd name="adj" fmla="val 198413"/>
            </a:avLst>
          </a:prstGeom>
          <a:solidFill>
            <a:srgbClr val="27C7FF"/>
          </a:solidFill>
          <a:ln w="12700">
            <a:solidFill>
              <a:srgbClr val="27C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7" name="Shape 11"/>
          <p:cNvSpPr/>
          <p:nvPr/>
        </p:nvSpPr>
        <p:spPr>
          <a:xfrm>
            <a:off x="933489" y="2886223"/>
            <a:ext cx="527778" cy="464326"/>
          </a:xfrm>
          <a:prstGeom prst="ellipse">
            <a:avLst/>
          </a:prstGeom>
          <a:solidFill>
            <a:srgbClr val="E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4671" y="3018432"/>
            <a:ext cx="226320" cy="199111"/>
          </a:xfrm>
          <a:prstGeom prst="rect">
            <a:avLst/>
          </a:prstGeom>
        </p:spPr>
      </p:pic>
      <p:sp>
        <p:nvSpPr>
          <p:cNvPr id="39" name="Text 12"/>
          <p:cNvSpPr txBox="1"/>
          <p:nvPr/>
        </p:nvSpPr>
        <p:spPr>
          <a:xfrm>
            <a:off x="1687588" y="2899762"/>
            <a:ext cx="9270064" cy="224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Orchestration Cohérente</a:t>
            </a:r>
            <a:endParaRPr lang="en-US" sz="1300" dirty="0"/>
          </a:p>
        </p:txBody>
      </p:sp>
      <p:sp>
        <p:nvSpPr>
          <p:cNvPr id="40" name="Text 13"/>
          <p:cNvSpPr txBox="1"/>
          <p:nvPr/>
        </p:nvSpPr>
        <p:spPr>
          <a:xfrm>
            <a:off x="1687588" y="3173738"/>
            <a:ext cx="9835863" cy="166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Vision unifiée du client sur tous les canaux (Email, SMS, Web, App), garantissant une pression marketing maîtrisée et une expérience sans couture.</a:t>
            </a:r>
            <a:endParaRPr lang="en-US" sz="1000" dirty="0"/>
          </a:p>
        </p:txBody>
      </p:sp>
      <p:sp>
        <p:nvSpPr>
          <p:cNvPr id="41" name="Shape 14"/>
          <p:cNvSpPr/>
          <p:nvPr/>
        </p:nvSpPr>
        <p:spPr>
          <a:xfrm>
            <a:off x="650137" y="3715319"/>
            <a:ext cx="10419769" cy="79644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B2A4A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43" name="Shape 15"/>
          <p:cNvSpPr/>
          <p:nvPr/>
        </p:nvSpPr>
        <p:spPr>
          <a:xfrm>
            <a:off x="650137" y="3715319"/>
            <a:ext cx="57032" cy="796442"/>
          </a:xfrm>
          <a:prstGeom prst="roundRect">
            <a:avLst>
              <a:gd name="adj" fmla="val 198413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4" name="Shape 16"/>
          <p:cNvSpPr/>
          <p:nvPr/>
        </p:nvSpPr>
        <p:spPr>
          <a:xfrm>
            <a:off x="933489" y="3881776"/>
            <a:ext cx="527778" cy="464326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4671" y="4013985"/>
            <a:ext cx="226320" cy="199111"/>
          </a:xfrm>
          <a:prstGeom prst="rect">
            <a:avLst/>
          </a:prstGeom>
        </p:spPr>
      </p:pic>
      <p:sp>
        <p:nvSpPr>
          <p:cNvPr id="46" name="Text 17"/>
          <p:cNvSpPr txBox="1"/>
          <p:nvPr/>
        </p:nvSpPr>
        <p:spPr>
          <a:xfrm>
            <a:off x="1687588" y="3895314"/>
            <a:ext cx="9270064" cy="224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Expérience Concepteur Fluide</a:t>
            </a:r>
            <a:endParaRPr lang="en-US" sz="1300" dirty="0"/>
          </a:p>
        </p:txBody>
      </p:sp>
      <p:sp>
        <p:nvSpPr>
          <p:cNvPr id="47" name="Text 18"/>
          <p:cNvSpPr txBox="1"/>
          <p:nvPr/>
        </p:nvSpPr>
        <p:spPr>
          <a:xfrm>
            <a:off x="1687588" y="4169291"/>
            <a:ext cx="9835863" cy="166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Autonomie totale des équipes marketing via une interface No-Code intuitive, libérant les ressources IT pour des projets structurants.</a:t>
            </a:r>
            <a:endParaRPr lang="en-US" sz="1000" dirty="0"/>
          </a:p>
        </p:txBody>
      </p:sp>
      <p:sp>
        <p:nvSpPr>
          <p:cNvPr id="48" name="Shape 19"/>
          <p:cNvSpPr/>
          <p:nvPr/>
        </p:nvSpPr>
        <p:spPr>
          <a:xfrm>
            <a:off x="650137" y="4710872"/>
            <a:ext cx="10419769" cy="79644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B2A4A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49" name="Shape 20"/>
          <p:cNvSpPr/>
          <p:nvPr/>
        </p:nvSpPr>
        <p:spPr>
          <a:xfrm>
            <a:off x="650137" y="4710872"/>
            <a:ext cx="57032" cy="796442"/>
          </a:xfrm>
          <a:prstGeom prst="roundRect">
            <a:avLst>
              <a:gd name="adj" fmla="val 198413"/>
            </a:avLst>
          </a:prstGeom>
          <a:solidFill>
            <a:srgbClr val="F4B400"/>
          </a:solidFill>
          <a:ln w="12700">
            <a:solidFill>
              <a:srgbClr val="F4B4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0" name="Shape 21"/>
          <p:cNvSpPr/>
          <p:nvPr/>
        </p:nvSpPr>
        <p:spPr>
          <a:xfrm>
            <a:off x="933489" y="4877329"/>
            <a:ext cx="527778" cy="464326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1070187" y="5009538"/>
            <a:ext cx="254383" cy="199111"/>
          </a:xfrm>
          <a:prstGeom prst="rect">
            <a:avLst/>
          </a:prstGeom>
        </p:spPr>
      </p:pic>
      <p:sp>
        <p:nvSpPr>
          <p:cNvPr id="52" name="Text 22"/>
          <p:cNvSpPr txBox="1"/>
          <p:nvPr/>
        </p:nvSpPr>
        <p:spPr>
          <a:xfrm>
            <a:off x="1687588" y="4890867"/>
            <a:ext cx="9270064" cy="224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Suivi Statuts &amp; Objectifs</a:t>
            </a:r>
            <a:endParaRPr lang="en-US" sz="1300" dirty="0"/>
          </a:p>
        </p:txBody>
      </p:sp>
      <p:sp>
        <p:nvSpPr>
          <p:cNvPr id="53" name="Text 23"/>
          <p:cNvSpPr txBox="1"/>
          <p:nvPr/>
        </p:nvSpPr>
        <p:spPr>
          <a:xfrm>
            <a:off x="1687588" y="5164844"/>
            <a:ext cx="9745335" cy="166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Pilotage granulaire en temps réel avec indicateurs de performance à chaque étape du funnel (objectifs intermédiaires et finaux).</a:t>
            </a:r>
            <a:endParaRPr lang="en-US" sz="1000" dirty="0"/>
          </a:p>
        </p:txBody>
      </p:sp>
      <p:sp>
        <p:nvSpPr>
          <p:cNvPr id="54" name="Shape 24"/>
          <p:cNvSpPr/>
          <p:nvPr/>
        </p:nvSpPr>
        <p:spPr>
          <a:xfrm>
            <a:off x="650137" y="5706425"/>
            <a:ext cx="10419769" cy="79644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B2A4A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55" name="Shape 25"/>
          <p:cNvSpPr/>
          <p:nvPr/>
        </p:nvSpPr>
        <p:spPr>
          <a:xfrm>
            <a:off x="650137" y="5706425"/>
            <a:ext cx="57032" cy="796442"/>
          </a:xfrm>
          <a:prstGeom prst="roundRect">
            <a:avLst>
              <a:gd name="adj" fmla="val 198413"/>
            </a:avLst>
          </a:prstGeom>
          <a:solidFill>
            <a:srgbClr val="0B2A4A"/>
          </a:solidFill>
          <a:ln w="12700">
            <a:solidFill>
              <a:srgbClr val="0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6" name="Shape 26"/>
          <p:cNvSpPr/>
          <p:nvPr/>
        </p:nvSpPr>
        <p:spPr>
          <a:xfrm>
            <a:off x="933489" y="5872881"/>
            <a:ext cx="527778" cy="464326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1055702" y="6005091"/>
            <a:ext cx="283352" cy="199111"/>
          </a:xfrm>
          <a:prstGeom prst="rect">
            <a:avLst/>
          </a:prstGeom>
        </p:spPr>
      </p:pic>
      <p:sp>
        <p:nvSpPr>
          <p:cNvPr id="58" name="Text 27"/>
          <p:cNvSpPr txBox="1"/>
          <p:nvPr/>
        </p:nvSpPr>
        <p:spPr>
          <a:xfrm>
            <a:off x="1687588" y="5886420"/>
            <a:ext cx="9270064" cy="224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Alignement Marketing-Réseau</a:t>
            </a:r>
            <a:endParaRPr lang="en-US" sz="1300" dirty="0"/>
          </a:p>
        </p:txBody>
      </p:sp>
      <p:sp>
        <p:nvSpPr>
          <p:cNvPr id="59" name="Text 28"/>
          <p:cNvSpPr txBox="1"/>
          <p:nvPr/>
        </p:nvSpPr>
        <p:spPr>
          <a:xfrm>
            <a:off x="1687588" y="6160397"/>
            <a:ext cx="9835863" cy="166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Synergie renforcée entre le siège et les agences grâce aux modules CC/DA, permettant de transformer les leads digitaux en rendez-vous qualifiés.</a:t>
            </a:r>
            <a:endParaRPr lang="en-US" sz="1000" dirty="0"/>
          </a:p>
        </p:txBody>
      </p:sp>
      <p:sp>
        <p:nvSpPr>
          <p:cNvPr id="60" name="Shape 29"/>
          <p:cNvSpPr/>
          <p:nvPr/>
        </p:nvSpPr>
        <p:spPr>
          <a:xfrm>
            <a:off x="650137" y="5491385"/>
            <a:ext cx="10891419" cy="7964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1" name="Text 3"/>
          <p:cNvSpPr txBox="1"/>
          <p:nvPr/>
        </p:nvSpPr>
        <p:spPr>
          <a:xfrm>
            <a:off x="933489" y="1017132"/>
            <a:ext cx="9249798" cy="410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Bénéfices Clés pour Votre Banque</a:t>
            </a:r>
            <a:endParaRPr lang="en-US" sz="2700" dirty="0"/>
          </a:p>
        </p:txBody>
      </p:sp>
      <p:sp>
        <p:nvSpPr>
          <p:cNvPr id="63" name="Shape 8"/>
          <p:cNvSpPr/>
          <p:nvPr/>
        </p:nvSpPr>
        <p:spPr>
          <a:xfrm>
            <a:off x="648310" y="1035101"/>
            <a:ext cx="57607" cy="418795"/>
          </a:xfrm>
          <a:prstGeom prst="roundRect">
            <a:avLst>
              <a:gd name="adj" fmla="val 793654"/>
            </a:avLst>
          </a:prstGeom>
          <a:solidFill>
            <a:srgbClr val="1F6A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2F2D67D2-7247-A5A5-C8E8-251AE95B908A}"/>
              </a:ext>
            </a:extLst>
          </p:cNvPr>
          <p:cNvGrpSpPr/>
          <p:nvPr/>
        </p:nvGrpSpPr>
        <p:grpSpPr>
          <a:xfrm>
            <a:off x="540410" y="-192303"/>
            <a:ext cx="4385073" cy="729585"/>
            <a:chOff x="540410" y="-192303"/>
            <a:chExt cx="4385073" cy="729585"/>
          </a:xfrm>
        </p:grpSpPr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BB4D04C5-9AAD-C6EE-C11A-BEA1F9EAE628}"/>
                </a:ext>
              </a:extLst>
            </p:cNvPr>
            <p:cNvSpPr txBox="1"/>
            <p:nvPr/>
          </p:nvSpPr>
          <p:spPr>
            <a:xfrm>
              <a:off x="540410" y="209"/>
              <a:ext cx="232020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 err="1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Campaign</a:t>
              </a:r>
              <a:r>
                <a:rPr lang="en-US" sz="1800" b="1" dirty="0" err="1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Hub</a:t>
              </a:r>
              <a:r>
                <a:rPr lang="en-US" sz="1800" b="1" dirty="0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by</a:t>
              </a:r>
              <a:endParaRPr lang="en-US" sz="1800" dirty="0"/>
            </a:p>
          </p:txBody>
        </p:sp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F88A3677-CA6C-B8FC-CE4E-2C44ECD65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17" y="-192303"/>
              <a:ext cx="2064866" cy="7295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8495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95691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480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0" y="438912"/>
            <a:ext cx="12191695" cy="9144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513" y="56693"/>
            <a:ext cx="466344" cy="3236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89513" y="56693"/>
            <a:ext cx="4672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06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159" y="828930"/>
            <a:ext cx="1018309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7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Objectifs Intermédiaires &amp; Pilotage Granulaire</a:t>
            </a:r>
          </a:p>
        </p:txBody>
      </p:sp>
      <p:sp>
        <p:nvSpPr>
          <p:cNvPr id="11" name="Shape 8"/>
          <p:cNvSpPr/>
          <p:nvPr/>
        </p:nvSpPr>
        <p:spPr>
          <a:xfrm>
            <a:off x="648310" y="876479"/>
            <a:ext cx="57607" cy="418795"/>
          </a:xfrm>
          <a:prstGeom prst="roundRect">
            <a:avLst>
              <a:gd name="adj" fmla="val 793654"/>
            </a:avLst>
          </a:prstGeom>
          <a:solidFill>
            <a:srgbClr val="1F6A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grpSp>
        <p:nvGrpSpPr>
          <p:cNvPr id="7" name="Groupe 6"/>
          <p:cNvGrpSpPr/>
          <p:nvPr/>
        </p:nvGrpSpPr>
        <p:grpSpPr>
          <a:xfrm>
            <a:off x="647395" y="1739498"/>
            <a:ext cx="11118190" cy="4865213"/>
            <a:chOff x="647395" y="1659969"/>
            <a:chExt cx="11118190" cy="5886907"/>
          </a:xfrm>
        </p:grpSpPr>
        <p:sp>
          <p:nvSpPr>
            <p:cNvPr id="28" name="Shape 4"/>
            <p:cNvSpPr/>
            <p:nvPr/>
          </p:nvSpPr>
          <p:spPr>
            <a:xfrm>
              <a:off x="647395" y="1659969"/>
              <a:ext cx="6057900" cy="5886907"/>
            </a:xfrm>
            <a:prstGeom prst="roundRect">
              <a:avLst>
                <a:gd name="adj" fmla="val 302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39700" dist="38100" dir="16200000" algn="bl" rotWithShape="0">
                <a:srgbClr val="0B2A4A">
                  <a:alpha val="5000"/>
                </a:srgbClr>
              </a:outerShdw>
            </a:effectLst>
          </p:spPr>
          <p:txBody>
            <a:bodyPr/>
            <a:lstStyle/>
            <a:p>
              <a:endParaRPr lang="fr-MA"/>
            </a:p>
          </p:txBody>
        </p:sp>
        <p:sp>
          <p:nvSpPr>
            <p:cNvPr id="29" name="Text 5"/>
            <p:cNvSpPr txBox="1"/>
            <p:nvPr/>
          </p:nvSpPr>
          <p:spPr>
            <a:xfrm>
              <a:off x="838505" y="1850164"/>
              <a:ext cx="3941064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Exemple : Campagne Crédit Immobilier</a:t>
              </a:r>
              <a:endParaRPr lang="en-US" sz="1300" dirty="0"/>
            </a:p>
          </p:txBody>
        </p:sp>
        <p:pic>
          <p:nvPicPr>
            <p:cNvPr id="30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89188" y="1842345"/>
              <a:ext cx="796626" cy="272583"/>
            </a:xfrm>
            <a:prstGeom prst="rect">
              <a:avLst/>
            </a:prstGeom>
          </p:spPr>
        </p:pic>
        <p:sp>
          <p:nvSpPr>
            <p:cNvPr id="31" name="Text 6"/>
            <p:cNvSpPr/>
            <p:nvPr/>
          </p:nvSpPr>
          <p:spPr>
            <a:xfrm>
              <a:off x="6003036" y="1854736"/>
              <a:ext cx="512064" cy="24780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En cours</a:t>
              </a:r>
              <a:endParaRPr lang="en-US" sz="900" dirty="0"/>
            </a:p>
          </p:txBody>
        </p:sp>
        <p:pic>
          <p:nvPicPr>
            <p:cNvPr id="32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6790" y="1949834"/>
              <a:ext cx="75895" cy="75895"/>
            </a:xfrm>
            <a:prstGeom prst="rect">
              <a:avLst/>
            </a:prstGeom>
          </p:spPr>
        </p:pic>
        <p:sp>
          <p:nvSpPr>
            <p:cNvPr id="33" name="Shape 7"/>
            <p:cNvSpPr/>
            <p:nvPr/>
          </p:nvSpPr>
          <p:spPr>
            <a:xfrm>
              <a:off x="838505" y="2297306"/>
              <a:ext cx="5676595" cy="1076249"/>
            </a:xfrm>
            <a:prstGeom prst="roundRect">
              <a:avLst>
                <a:gd name="adj" fmla="val 6015"/>
              </a:avLst>
            </a:prstGeom>
            <a:solidFill>
              <a:srgbClr val="E6F0FF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34" name="Shape 8"/>
            <p:cNvSpPr/>
            <p:nvPr/>
          </p:nvSpPr>
          <p:spPr>
            <a:xfrm>
              <a:off x="838505" y="2297306"/>
              <a:ext cx="47549" cy="1076249"/>
            </a:xfrm>
            <a:prstGeom prst="roundRect">
              <a:avLst>
                <a:gd name="adj" fmla="val 136146"/>
              </a:avLst>
            </a:prstGeom>
            <a:solidFill>
              <a:srgbClr val="1F6AE1"/>
            </a:solidFill>
            <a:ln w="12700">
              <a:solidFill>
                <a:srgbClr val="1F6AE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pic>
          <p:nvPicPr>
            <p:cNvPr id="35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076249" y="2594486"/>
              <a:ext cx="476402" cy="476402"/>
            </a:xfrm>
            <a:prstGeom prst="rect">
              <a:avLst/>
            </a:prstGeom>
          </p:spPr>
        </p:pic>
        <p:pic>
          <p:nvPicPr>
            <p:cNvPr id="36" name="Image 4" descr="preencoded.png"/>
            <p:cNvPicPr>
              <a:picLocks noChangeAspect="1"/>
            </p:cNvPicPr>
            <p:nvPr/>
          </p:nvPicPr>
          <p:blipFill>
            <a:blip r:embed="rId7"/>
            <a:srcRect l="-1648" r="-1648"/>
            <a:stretch/>
          </p:blipFill>
          <p:spPr>
            <a:xfrm>
              <a:off x="1228954" y="2738047"/>
              <a:ext cx="171907" cy="190195"/>
            </a:xfrm>
            <a:prstGeom prst="rect">
              <a:avLst/>
            </a:prstGeom>
          </p:spPr>
        </p:pic>
        <p:sp>
          <p:nvSpPr>
            <p:cNvPr id="37" name="Text 9"/>
            <p:cNvSpPr txBox="1"/>
            <p:nvPr/>
          </p:nvSpPr>
          <p:spPr>
            <a:xfrm>
              <a:off x="1742846" y="2347598"/>
              <a:ext cx="121981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4748B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OBJECTIF FINAL</a:t>
              </a:r>
              <a:endParaRPr lang="en-US" sz="1000" dirty="0"/>
            </a:p>
          </p:txBody>
        </p:sp>
        <p:sp>
          <p:nvSpPr>
            <p:cNvPr id="38" name="Text 10"/>
            <p:cNvSpPr txBox="1"/>
            <p:nvPr/>
          </p:nvSpPr>
          <p:spPr>
            <a:xfrm>
              <a:off x="5632704" y="2366800"/>
              <a:ext cx="816559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F6AE1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35% réalisé</a:t>
              </a:r>
              <a:endParaRPr lang="en-US" sz="1000" dirty="0"/>
            </a:p>
          </p:txBody>
        </p:sp>
        <p:sp>
          <p:nvSpPr>
            <p:cNvPr id="39" name="Text 11"/>
            <p:cNvSpPr txBox="1"/>
            <p:nvPr/>
          </p:nvSpPr>
          <p:spPr>
            <a:xfrm>
              <a:off x="1742846" y="2585342"/>
              <a:ext cx="469635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150 Souscriptions</a:t>
              </a:r>
              <a:endParaRPr lang="en-US" sz="1800" dirty="0"/>
            </a:p>
          </p:txBody>
        </p:sp>
        <p:sp>
          <p:nvSpPr>
            <p:cNvPr id="40" name="Text 12"/>
            <p:cNvSpPr txBox="1"/>
            <p:nvPr/>
          </p:nvSpPr>
          <p:spPr>
            <a:xfrm>
              <a:off x="1742846" y="2947444"/>
              <a:ext cx="469635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Conversion finale signée en agence</a:t>
              </a:r>
              <a:endParaRPr lang="en-US" sz="1000" dirty="0"/>
            </a:p>
          </p:txBody>
        </p:sp>
        <p:pic>
          <p:nvPicPr>
            <p:cNvPr id="41" name="Image 5" descr="preencoded.png"/>
            <p:cNvPicPr>
              <a:picLocks noChangeAspect="1"/>
            </p:cNvPicPr>
            <p:nvPr/>
          </p:nvPicPr>
          <p:blipFill>
            <a:blip r:embed="rId8"/>
            <a:srcRect l="-205" r="-205"/>
            <a:stretch/>
          </p:blipFill>
          <p:spPr>
            <a:xfrm>
              <a:off x="1742846" y="3242796"/>
              <a:ext cx="4574743" cy="75895"/>
            </a:xfrm>
            <a:prstGeom prst="rect">
              <a:avLst/>
            </a:prstGeom>
          </p:spPr>
        </p:pic>
        <p:pic>
          <p:nvPicPr>
            <p:cNvPr id="43" name="Image 6" descr="preencoded.png"/>
            <p:cNvPicPr>
              <a:picLocks noChangeAspect="1"/>
            </p:cNvPicPr>
            <p:nvPr/>
          </p:nvPicPr>
          <p:blipFill>
            <a:blip r:embed="rId9"/>
            <a:srcRect l="-206" r="-206"/>
            <a:stretch/>
          </p:blipFill>
          <p:spPr>
            <a:xfrm>
              <a:off x="1742846" y="3242796"/>
              <a:ext cx="1601114" cy="75895"/>
            </a:xfrm>
            <a:prstGeom prst="rect">
              <a:avLst/>
            </a:prstGeom>
          </p:spPr>
        </p:pic>
        <p:pic>
          <p:nvPicPr>
            <p:cNvPr id="44" name="Image 7" descr="preencoded.png"/>
            <p:cNvPicPr>
              <a:picLocks noChangeAspect="1"/>
            </p:cNvPicPr>
            <p:nvPr/>
          </p:nvPicPr>
          <p:blipFill>
            <a:blip r:embed="rId10"/>
            <a:srcRect l="-30128" r="-30128"/>
            <a:stretch/>
          </p:blipFill>
          <p:spPr>
            <a:xfrm>
              <a:off x="3615538" y="3511629"/>
              <a:ext cx="114300" cy="95098"/>
            </a:xfrm>
            <a:prstGeom prst="rect">
              <a:avLst/>
            </a:prstGeom>
          </p:spPr>
        </p:pic>
        <p:sp>
          <p:nvSpPr>
            <p:cNvPr id="45" name="Shape 13"/>
            <p:cNvSpPr/>
            <p:nvPr/>
          </p:nvSpPr>
          <p:spPr>
            <a:xfrm>
              <a:off x="838505" y="3749373"/>
              <a:ext cx="5676595" cy="1076249"/>
            </a:xfrm>
            <a:prstGeom prst="roundRect">
              <a:avLst>
                <a:gd name="adj" fmla="val 6015"/>
              </a:avLst>
            </a:prstGeom>
            <a:solidFill>
              <a:srgbClr val="EBF9FF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46" name="Shape 14"/>
            <p:cNvSpPr/>
            <p:nvPr/>
          </p:nvSpPr>
          <p:spPr>
            <a:xfrm>
              <a:off x="838505" y="3749373"/>
              <a:ext cx="47549" cy="1076249"/>
            </a:xfrm>
            <a:prstGeom prst="roundRect">
              <a:avLst>
                <a:gd name="adj" fmla="val 136146"/>
              </a:avLst>
            </a:prstGeom>
            <a:solidFill>
              <a:srgbClr val="27C7FF"/>
            </a:solidFill>
            <a:ln w="12700">
              <a:solidFill>
                <a:srgbClr val="27C7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pic>
          <p:nvPicPr>
            <p:cNvPr id="47" name="Image 8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076249" y="4046553"/>
              <a:ext cx="476402" cy="476402"/>
            </a:xfrm>
            <a:prstGeom prst="rect">
              <a:avLst/>
            </a:prstGeom>
          </p:spPr>
        </p:pic>
        <p:pic>
          <p:nvPicPr>
            <p:cNvPr id="48" name="Image 9" descr="preencoded.png"/>
            <p:cNvPicPr>
              <a:picLocks noChangeAspect="1"/>
            </p:cNvPicPr>
            <p:nvPr/>
          </p:nvPicPr>
          <p:blipFill>
            <a:blip r:embed="rId11"/>
            <a:srcRect l="-1648" r="-1648"/>
            <a:stretch/>
          </p:blipFill>
          <p:spPr>
            <a:xfrm>
              <a:off x="1228954" y="4189200"/>
              <a:ext cx="171907" cy="190195"/>
            </a:xfrm>
            <a:prstGeom prst="rect">
              <a:avLst/>
            </a:prstGeom>
          </p:spPr>
        </p:pic>
        <p:sp>
          <p:nvSpPr>
            <p:cNvPr id="49" name="Text 15"/>
            <p:cNvSpPr txBox="1"/>
            <p:nvPr/>
          </p:nvSpPr>
          <p:spPr>
            <a:xfrm>
              <a:off x="1742846" y="3799665"/>
              <a:ext cx="192481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4748B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OBJECTIF INTERMÉDIAIRE</a:t>
              </a:r>
              <a:endParaRPr lang="en-US" sz="1000" dirty="0"/>
            </a:p>
          </p:txBody>
        </p:sp>
        <p:sp>
          <p:nvSpPr>
            <p:cNvPr id="50" name="Text 16"/>
            <p:cNvSpPr txBox="1"/>
            <p:nvPr/>
          </p:nvSpPr>
          <p:spPr>
            <a:xfrm>
              <a:off x="5632704" y="3817953"/>
              <a:ext cx="816559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27C7FF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62% réalisé</a:t>
              </a:r>
              <a:endParaRPr lang="en-US" sz="1000" dirty="0"/>
            </a:p>
          </p:txBody>
        </p:sp>
        <p:sp>
          <p:nvSpPr>
            <p:cNvPr id="51" name="Text 17"/>
            <p:cNvSpPr txBox="1"/>
            <p:nvPr/>
          </p:nvSpPr>
          <p:spPr>
            <a:xfrm>
              <a:off x="1742846" y="4037409"/>
              <a:ext cx="469635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800 RDV Conseillers</a:t>
              </a:r>
              <a:endParaRPr lang="en-US" sz="1800" dirty="0"/>
            </a:p>
          </p:txBody>
        </p:sp>
        <p:sp>
          <p:nvSpPr>
            <p:cNvPr id="52" name="Text 18"/>
            <p:cNvSpPr txBox="1"/>
            <p:nvPr/>
          </p:nvSpPr>
          <p:spPr>
            <a:xfrm>
              <a:off x="1742846" y="4399512"/>
              <a:ext cx="469635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75569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Prise de rendez-vous qualifiée</a:t>
              </a:r>
              <a:endParaRPr lang="en-US" sz="1000" dirty="0"/>
            </a:p>
          </p:txBody>
        </p:sp>
        <p:pic>
          <p:nvPicPr>
            <p:cNvPr id="53" name="Image 10" descr="preencoded.png"/>
            <p:cNvPicPr>
              <a:picLocks noChangeAspect="1"/>
            </p:cNvPicPr>
            <p:nvPr/>
          </p:nvPicPr>
          <p:blipFill>
            <a:blip r:embed="rId8"/>
            <a:srcRect l="-205" r="-205"/>
            <a:stretch/>
          </p:blipFill>
          <p:spPr>
            <a:xfrm>
              <a:off x="1742846" y="4694863"/>
              <a:ext cx="4574743" cy="75895"/>
            </a:xfrm>
            <a:prstGeom prst="rect">
              <a:avLst/>
            </a:prstGeom>
          </p:spPr>
        </p:pic>
        <p:pic>
          <p:nvPicPr>
            <p:cNvPr id="54" name="Image 11" descr="preencoded.png"/>
            <p:cNvPicPr>
              <a:picLocks noChangeAspect="1"/>
            </p:cNvPicPr>
            <p:nvPr/>
          </p:nvPicPr>
          <p:blipFill>
            <a:blip r:embed="rId12"/>
            <a:srcRect l="-208" r="-208"/>
            <a:stretch/>
          </p:blipFill>
          <p:spPr>
            <a:xfrm>
              <a:off x="1742846" y="4694863"/>
              <a:ext cx="2836469" cy="75895"/>
            </a:xfrm>
            <a:prstGeom prst="rect">
              <a:avLst/>
            </a:prstGeom>
          </p:spPr>
        </p:pic>
        <p:pic>
          <p:nvPicPr>
            <p:cNvPr id="55" name="Image 12" descr="preencoded.png"/>
            <p:cNvPicPr>
              <a:picLocks noChangeAspect="1"/>
            </p:cNvPicPr>
            <p:nvPr/>
          </p:nvPicPr>
          <p:blipFill>
            <a:blip r:embed="rId10"/>
            <a:srcRect l="-30128" r="-30128"/>
            <a:stretch/>
          </p:blipFill>
          <p:spPr>
            <a:xfrm>
              <a:off x="3615538" y="4962782"/>
              <a:ext cx="114300" cy="95098"/>
            </a:xfrm>
            <a:prstGeom prst="rect">
              <a:avLst/>
            </a:prstGeom>
          </p:spPr>
        </p:pic>
        <p:sp>
          <p:nvSpPr>
            <p:cNvPr id="56" name="Shape 19"/>
            <p:cNvSpPr/>
            <p:nvPr/>
          </p:nvSpPr>
          <p:spPr>
            <a:xfrm>
              <a:off x="838505" y="5201440"/>
              <a:ext cx="5676595" cy="1009498"/>
            </a:xfrm>
            <a:prstGeom prst="roundRect">
              <a:avLst>
                <a:gd name="adj" fmla="val 6836"/>
              </a:avLst>
            </a:prstGeom>
            <a:solidFill>
              <a:srgbClr val="F0FDF4"/>
            </a:solidFill>
            <a:ln/>
          </p:spPr>
          <p:txBody>
            <a:bodyPr/>
            <a:lstStyle/>
            <a:p>
              <a:endParaRPr lang="fr-MA"/>
            </a:p>
          </p:txBody>
        </p:sp>
        <p:sp>
          <p:nvSpPr>
            <p:cNvPr id="57" name="Shape 20"/>
            <p:cNvSpPr/>
            <p:nvPr/>
          </p:nvSpPr>
          <p:spPr>
            <a:xfrm>
              <a:off x="838505" y="5201440"/>
              <a:ext cx="47549" cy="1009498"/>
            </a:xfrm>
            <a:prstGeom prst="roundRect">
              <a:avLst>
                <a:gd name="adj" fmla="val 145137"/>
              </a:avLst>
            </a:prstGeom>
            <a:solidFill>
              <a:srgbClr val="2ECC71"/>
            </a:solidFill>
            <a:ln w="12700">
              <a:solidFill>
                <a:srgbClr val="2ECC7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pic>
          <p:nvPicPr>
            <p:cNvPr id="58" name="Image 1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076249" y="5463873"/>
              <a:ext cx="476402" cy="476402"/>
            </a:xfrm>
            <a:prstGeom prst="rect">
              <a:avLst/>
            </a:prstGeom>
          </p:spPr>
        </p:pic>
        <p:pic>
          <p:nvPicPr>
            <p:cNvPr id="59" name="Image 14" descr="preencoded.png"/>
            <p:cNvPicPr>
              <a:picLocks noChangeAspect="1"/>
            </p:cNvPicPr>
            <p:nvPr/>
          </p:nvPicPr>
          <p:blipFill>
            <a:blip r:embed="rId13"/>
            <a:srcRect l="-1923" r="-1923"/>
            <a:stretch/>
          </p:blipFill>
          <p:spPr>
            <a:xfrm>
              <a:off x="1252728" y="5606520"/>
              <a:ext cx="123444" cy="190195"/>
            </a:xfrm>
            <a:prstGeom prst="rect">
              <a:avLst/>
            </a:prstGeom>
          </p:spPr>
        </p:pic>
        <p:sp>
          <p:nvSpPr>
            <p:cNvPr id="60" name="Text 21"/>
            <p:cNvSpPr txBox="1"/>
            <p:nvPr/>
          </p:nvSpPr>
          <p:spPr>
            <a:xfrm>
              <a:off x="1742846" y="5259048"/>
              <a:ext cx="138165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4748B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MICRO-OBJECTIFS</a:t>
              </a:r>
              <a:endParaRPr lang="en-US" sz="1000" dirty="0"/>
            </a:p>
          </p:txBody>
        </p:sp>
        <p:sp>
          <p:nvSpPr>
            <p:cNvPr id="61" name="Text 22"/>
            <p:cNvSpPr txBox="1"/>
            <p:nvPr/>
          </p:nvSpPr>
          <p:spPr>
            <a:xfrm>
              <a:off x="5632704" y="5278250"/>
              <a:ext cx="816559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2ECC71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85% réalisé</a:t>
              </a:r>
              <a:endParaRPr lang="en-US" sz="1000" dirty="0"/>
            </a:p>
          </p:txBody>
        </p:sp>
        <p:sp>
          <p:nvSpPr>
            <p:cNvPr id="62" name="Text 23"/>
            <p:cNvSpPr txBox="1"/>
            <p:nvPr/>
          </p:nvSpPr>
          <p:spPr>
            <a:xfrm>
              <a:off x="1742846" y="5497706"/>
              <a:ext cx="1257300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2 540</a:t>
              </a:r>
              <a:endParaRPr lang="en-US" sz="1500" dirty="0"/>
            </a:p>
          </p:txBody>
        </p:sp>
        <p:sp>
          <p:nvSpPr>
            <p:cNvPr id="63" name="Text 24"/>
            <p:cNvSpPr txBox="1"/>
            <p:nvPr/>
          </p:nvSpPr>
          <p:spPr>
            <a:xfrm>
              <a:off x="1742846" y="5802201"/>
              <a:ext cx="1406347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Simulations (Obj: 2000)</a:t>
              </a:r>
              <a:endParaRPr lang="en-US" sz="900" dirty="0"/>
            </a:p>
          </p:txBody>
        </p:sp>
        <p:pic>
          <p:nvPicPr>
            <p:cNvPr id="64" name="Image 15" descr="preencoded.png"/>
            <p:cNvPicPr>
              <a:picLocks noChangeAspect="1"/>
            </p:cNvPicPr>
            <p:nvPr/>
          </p:nvPicPr>
          <p:blipFill>
            <a:blip r:embed="rId14"/>
            <a:srcRect t="-2100" b="-2100"/>
            <a:stretch/>
          </p:blipFill>
          <p:spPr>
            <a:xfrm>
              <a:off x="3105302" y="5497706"/>
              <a:ext cx="9144" cy="476402"/>
            </a:xfrm>
            <a:prstGeom prst="rect">
              <a:avLst/>
            </a:prstGeom>
          </p:spPr>
        </p:pic>
        <p:sp>
          <p:nvSpPr>
            <p:cNvPr id="65" name="Text 25"/>
            <p:cNvSpPr txBox="1"/>
            <p:nvPr/>
          </p:nvSpPr>
          <p:spPr>
            <a:xfrm>
              <a:off x="3305556" y="5497706"/>
              <a:ext cx="1524305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5 100</a:t>
              </a:r>
              <a:endParaRPr lang="en-US" sz="1500" dirty="0"/>
            </a:p>
          </p:txBody>
        </p:sp>
        <p:sp>
          <p:nvSpPr>
            <p:cNvPr id="66" name="Text 26"/>
            <p:cNvSpPr txBox="1"/>
            <p:nvPr/>
          </p:nvSpPr>
          <p:spPr>
            <a:xfrm>
              <a:off x="3305556" y="5802201"/>
              <a:ext cx="1723644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475569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Téléchargements (Obj: 5000)</a:t>
              </a:r>
              <a:endParaRPr lang="en-US" sz="900" dirty="0"/>
            </a:p>
          </p:txBody>
        </p:sp>
        <p:pic>
          <p:nvPicPr>
            <p:cNvPr id="67" name="Image 16" descr="preencoded.png"/>
            <p:cNvPicPr>
              <a:picLocks noChangeAspect="1"/>
            </p:cNvPicPr>
            <p:nvPr/>
          </p:nvPicPr>
          <p:blipFill>
            <a:blip r:embed="rId8"/>
            <a:srcRect l="-205" r="-205"/>
            <a:stretch/>
          </p:blipFill>
          <p:spPr>
            <a:xfrm>
              <a:off x="1742846" y="6069206"/>
              <a:ext cx="4574743" cy="75895"/>
            </a:xfrm>
            <a:prstGeom prst="rect">
              <a:avLst/>
            </a:prstGeom>
          </p:spPr>
        </p:pic>
        <p:pic>
          <p:nvPicPr>
            <p:cNvPr id="68" name="Image 17" descr="preencoded.png"/>
            <p:cNvPicPr>
              <a:picLocks noChangeAspect="1"/>
            </p:cNvPicPr>
            <p:nvPr/>
          </p:nvPicPr>
          <p:blipFill>
            <a:blip r:embed="rId15"/>
            <a:srcRect l="-205" r="-205"/>
            <a:stretch/>
          </p:blipFill>
          <p:spPr>
            <a:xfrm>
              <a:off x="1742846" y="6069206"/>
              <a:ext cx="4574743" cy="75895"/>
            </a:xfrm>
            <a:prstGeom prst="rect">
              <a:avLst/>
            </a:prstGeom>
          </p:spPr>
        </p:pic>
        <p:sp>
          <p:nvSpPr>
            <p:cNvPr id="69" name="Shape 27"/>
            <p:cNvSpPr/>
            <p:nvPr/>
          </p:nvSpPr>
          <p:spPr>
            <a:xfrm>
              <a:off x="838505" y="6441367"/>
              <a:ext cx="5676595" cy="914400"/>
            </a:xfrm>
            <a:prstGeom prst="roundRect">
              <a:avLst>
                <a:gd name="adj" fmla="val 8333"/>
              </a:avLst>
            </a:prstGeom>
            <a:solidFill>
              <a:srgbClr val="FFF8E1"/>
            </a:solidFill>
            <a:ln w="12700">
              <a:solidFill>
                <a:srgbClr val="F4B400"/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pic>
          <p:nvPicPr>
            <p:cNvPr id="70" name="Image 18" descr="preencoded.png"/>
            <p:cNvPicPr>
              <a:picLocks noChangeAspect="1"/>
            </p:cNvPicPr>
            <p:nvPr/>
          </p:nvPicPr>
          <p:blipFill>
            <a:blip r:embed="rId16"/>
            <a:srcRect l="-57" r="-57"/>
            <a:stretch/>
          </p:blipFill>
          <p:spPr>
            <a:xfrm>
              <a:off x="990295" y="6784267"/>
              <a:ext cx="200254" cy="228600"/>
            </a:xfrm>
            <a:prstGeom prst="rect">
              <a:avLst/>
            </a:prstGeom>
          </p:spPr>
        </p:pic>
        <p:sp>
          <p:nvSpPr>
            <p:cNvPr id="71" name="Text 28"/>
            <p:cNvSpPr txBox="1"/>
            <p:nvPr/>
          </p:nvSpPr>
          <p:spPr>
            <a:xfrm>
              <a:off x="1333195" y="6593157"/>
              <a:ext cx="5143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B4530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ACTION AUTOMATIQUE DÉCLENCHÉE</a:t>
              </a:r>
              <a:endParaRPr lang="en-US" sz="1000" dirty="0"/>
            </a:p>
          </p:txBody>
        </p:sp>
        <p:sp>
          <p:nvSpPr>
            <p:cNvPr id="72" name="Text 29"/>
            <p:cNvSpPr txBox="1"/>
            <p:nvPr/>
          </p:nvSpPr>
          <p:spPr>
            <a:xfrm>
              <a:off x="1333195" y="6831816"/>
              <a:ext cx="5106010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78350F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Condition :</a:t>
              </a:r>
              <a:r>
                <a:rPr lang="en-US" sz="900" dirty="0">
                  <a:solidFill>
                    <a:srgbClr val="78350F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 Simulations &gt; 2 500 </a:t>
              </a:r>
              <a:r>
                <a:rPr lang="en-US" sz="900" b="1" dirty="0">
                  <a:solidFill>
                    <a:srgbClr val="78350F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Action :</a:t>
              </a:r>
              <a:r>
                <a:rPr lang="en-US" sz="900" dirty="0">
                  <a:solidFill>
                    <a:srgbClr val="78350F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 Envoi email "Offre Flash Taux" pour convertir en RDV </a:t>
              </a:r>
              <a:endParaRPr lang="en-US" sz="900" dirty="0"/>
            </a:p>
          </p:txBody>
        </p:sp>
        <p:sp>
          <p:nvSpPr>
            <p:cNvPr id="74" name="Text 30"/>
            <p:cNvSpPr txBox="1"/>
            <p:nvPr/>
          </p:nvSpPr>
          <p:spPr>
            <a:xfrm>
              <a:off x="7079285" y="1659969"/>
              <a:ext cx="4686300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Impact Business</a:t>
              </a:r>
              <a:endParaRPr lang="en-US" sz="1500" dirty="0"/>
            </a:p>
          </p:txBody>
        </p:sp>
        <p:sp>
          <p:nvSpPr>
            <p:cNvPr id="75" name="Shape 31"/>
            <p:cNvSpPr/>
            <p:nvPr/>
          </p:nvSpPr>
          <p:spPr>
            <a:xfrm>
              <a:off x="7079285" y="2183006"/>
              <a:ext cx="2219249" cy="2095805"/>
            </a:xfrm>
            <a:prstGeom prst="roundRect">
              <a:avLst>
                <a:gd name="adj" fmla="val 1587"/>
              </a:avLst>
            </a:prstGeom>
            <a:solidFill>
              <a:srgbClr val="FFFFFF"/>
            </a:solidFill>
            <a:ln/>
            <a:effectLst>
              <a:outerShdw blurRad="101600" dist="25400" dir="16200000" algn="bl" rotWithShape="0">
                <a:srgbClr val="0B2A4A">
                  <a:alpha val="3000"/>
                </a:srgbClr>
              </a:outerShdw>
            </a:effectLst>
          </p:spPr>
          <p:txBody>
            <a:bodyPr/>
            <a:lstStyle/>
            <a:p>
              <a:endParaRPr lang="fr-MA"/>
            </a:p>
          </p:txBody>
        </p:sp>
        <p:sp>
          <p:nvSpPr>
            <p:cNvPr id="76" name="Shape 32"/>
            <p:cNvSpPr/>
            <p:nvPr/>
          </p:nvSpPr>
          <p:spPr>
            <a:xfrm>
              <a:off x="7079285" y="2183006"/>
              <a:ext cx="2219249" cy="28346"/>
            </a:xfrm>
            <a:prstGeom prst="roundRect">
              <a:avLst>
                <a:gd name="adj" fmla="val 117304"/>
              </a:avLst>
            </a:prstGeom>
            <a:solidFill>
              <a:srgbClr val="000000">
                <a:alpha val="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pic>
          <p:nvPicPr>
            <p:cNvPr id="77" name="Image 20" descr="preencoded.png"/>
            <p:cNvPicPr>
              <a:picLocks noChangeAspect="1"/>
            </p:cNvPicPr>
            <p:nvPr/>
          </p:nvPicPr>
          <p:blipFill>
            <a:blip r:embed="rId17"/>
            <a:srcRect l="-57" r="-57"/>
            <a:stretch/>
          </p:blipFill>
          <p:spPr>
            <a:xfrm>
              <a:off x="7270394" y="2574369"/>
              <a:ext cx="200254" cy="228600"/>
            </a:xfrm>
            <a:prstGeom prst="rect">
              <a:avLst/>
            </a:prstGeom>
          </p:spPr>
        </p:pic>
        <p:sp>
          <p:nvSpPr>
            <p:cNvPr id="78" name="Text 33"/>
            <p:cNvSpPr txBox="1"/>
            <p:nvPr/>
          </p:nvSpPr>
          <p:spPr>
            <a:xfrm>
              <a:off x="7270394" y="2974876"/>
              <a:ext cx="19147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Pilotage Temps Réel</a:t>
              </a:r>
              <a:endParaRPr lang="en-US" sz="1200" dirty="0"/>
            </a:p>
          </p:txBody>
        </p:sp>
        <p:sp>
          <p:nvSpPr>
            <p:cNvPr id="79" name="Text 34"/>
            <p:cNvSpPr txBox="1"/>
            <p:nvPr/>
          </p:nvSpPr>
          <p:spPr>
            <a:xfrm>
              <a:off x="7270394" y="3279372"/>
              <a:ext cx="1912010" cy="6958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Visibilité instantanée sur la performance à chaque étape du funnel, permettant une réactivité immédiate.</a:t>
              </a:r>
              <a:endParaRPr lang="en-US" sz="900" dirty="0"/>
            </a:p>
          </p:txBody>
        </p:sp>
        <p:sp>
          <p:nvSpPr>
            <p:cNvPr id="80" name="Shape 35"/>
            <p:cNvSpPr/>
            <p:nvPr/>
          </p:nvSpPr>
          <p:spPr>
            <a:xfrm>
              <a:off x="9435694" y="2183006"/>
              <a:ext cx="2219249" cy="2095805"/>
            </a:xfrm>
            <a:prstGeom prst="roundRect">
              <a:avLst>
                <a:gd name="adj" fmla="val 1587"/>
              </a:avLst>
            </a:prstGeom>
            <a:solidFill>
              <a:srgbClr val="FFFFFF"/>
            </a:solidFill>
            <a:ln/>
            <a:effectLst>
              <a:outerShdw blurRad="101600" dist="25400" dir="16200000" algn="bl" rotWithShape="0">
                <a:srgbClr val="0B2A4A">
                  <a:alpha val="3000"/>
                </a:srgbClr>
              </a:outerShdw>
            </a:effectLst>
          </p:spPr>
          <p:txBody>
            <a:bodyPr/>
            <a:lstStyle/>
            <a:p>
              <a:endParaRPr lang="fr-MA"/>
            </a:p>
          </p:txBody>
        </p:sp>
        <p:sp>
          <p:nvSpPr>
            <p:cNvPr id="81" name="Shape 36"/>
            <p:cNvSpPr/>
            <p:nvPr/>
          </p:nvSpPr>
          <p:spPr>
            <a:xfrm>
              <a:off x="9435694" y="2183006"/>
              <a:ext cx="2219249" cy="28346"/>
            </a:xfrm>
            <a:prstGeom prst="roundRect">
              <a:avLst>
                <a:gd name="adj" fmla="val 117304"/>
              </a:avLst>
            </a:prstGeom>
            <a:solidFill>
              <a:srgbClr val="000000">
                <a:alpha val="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pic>
          <p:nvPicPr>
            <p:cNvPr id="82" name="Image 21" descr="preencoded.png"/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9625889" y="2574369"/>
              <a:ext cx="228600" cy="228600"/>
            </a:xfrm>
            <a:prstGeom prst="rect">
              <a:avLst/>
            </a:prstGeom>
          </p:spPr>
        </p:pic>
        <p:sp>
          <p:nvSpPr>
            <p:cNvPr id="83" name="Text 37"/>
            <p:cNvSpPr txBox="1"/>
            <p:nvPr/>
          </p:nvSpPr>
          <p:spPr>
            <a:xfrm>
              <a:off x="9625889" y="2974876"/>
              <a:ext cx="205831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Optimisation Continue</a:t>
              </a:r>
              <a:endParaRPr lang="en-US" sz="1200" dirty="0"/>
            </a:p>
          </p:txBody>
        </p:sp>
        <p:sp>
          <p:nvSpPr>
            <p:cNvPr id="84" name="Text 38"/>
            <p:cNvSpPr txBox="1"/>
            <p:nvPr/>
          </p:nvSpPr>
          <p:spPr>
            <a:xfrm>
              <a:off x="9625889" y="3279372"/>
              <a:ext cx="1912010" cy="6958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Ajustement des leviers en cours de campagne (ex: booster SMS) si un objectif intermédiaire n'est pas atteint.</a:t>
              </a:r>
              <a:endParaRPr lang="en-US" sz="900" dirty="0"/>
            </a:p>
          </p:txBody>
        </p:sp>
        <p:sp>
          <p:nvSpPr>
            <p:cNvPr id="85" name="Shape 39"/>
            <p:cNvSpPr/>
            <p:nvPr/>
          </p:nvSpPr>
          <p:spPr>
            <a:xfrm>
              <a:off x="7079285" y="4421457"/>
              <a:ext cx="2219249" cy="2095805"/>
            </a:xfrm>
            <a:prstGeom prst="roundRect">
              <a:avLst>
                <a:gd name="adj" fmla="val 1587"/>
              </a:avLst>
            </a:prstGeom>
            <a:solidFill>
              <a:srgbClr val="FFFFFF"/>
            </a:solidFill>
            <a:ln/>
            <a:effectLst>
              <a:outerShdw blurRad="101600" dist="25400" dir="16200000" algn="bl" rotWithShape="0">
                <a:srgbClr val="0B2A4A">
                  <a:alpha val="3000"/>
                </a:srgbClr>
              </a:outerShdw>
            </a:effectLst>
          </p:spPr>
          <p:txBody>
            <a:bodyPr/>
            <a:lstStyle/>
            <a:p>
              <a:endParaRPr lang="fr-MA"/>
            </a:p>
          </p:txBody>
        </p:sp>
        <p:sp>
          <p:nvSpPr>
            <p:cNvPr id="86" name="Shape 40"/>
            <p:cNvSpPr/>
            <p:nvPr/>
          </p:nvSpPr>
          <p:spPr>
            <a:xfrm>
              <a:off x="7079285" y="4421457"/>
              <a:ext cx="2219249" cy="28346"/>
            </a:xfrm>
            <a:prstGeom prst="roundRect">
              <a:avLst>
                <a:gd name="adj" fmla="val 117304"/>
              </a:avLst>
            </a:prstGeom>
            <a:solidFill>
              <a:srgbClr val="000000">
                <a:alpha val="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pic>
          <p:nvPicPr>
            <p:cNvPr id="87" name="Image 22" descr="preencoded.png"/>
            <p:cNvPicPr>
              <a:picLocks noChangeAspect="1"/>
            </p:cNvPicPr>
            <p:nvPr/>
          </p:nvPicPr>
          <p:blipFill>
            <a:blip r:embed="rId19"/>
            <a:srcRect t="-45" b="-45"/>
            <a:stretch/>
          </p:blipFill>
          <p:spPr>
            <a:xfrm>
              <a:off x="7270394" y="4812820"/>
              <a:ext cx="256946" cy="228600"/>
            </a:xfrm>
            <a:prstGeom prst="rect">
              <a:avLst/>
            </a:prstGeom>
          </p:spPr>
        </p:pic>
        <p:sp>
          <p:nvSpPr>
            <p:cNvPr id="88" name="Text 41"/>
            <p:cNvSpPr txBox="1"/>
            <p:nvPr/>
          </p:nvSpPr>
          <p:spPr>
            <a:xfrm>
              <a:off x="7270394" y="5213328"/>
              <a:ext cx="19147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Analyse du Parcours</a:t>
              </a:r>
              <a:endParaRPr lang="en-US" sz="1200" dirty="0"/>
            </a:p>
          </p:txBody>
        </p:sp>
        <p:sp>
          <p:nvSpPr>
            <p:cNvPr id="89" name="Text 42"/>
            <p:cNvSpPr txBox="1"/>
            <p:nvPr/>
          </p:nvSpPr>
          <p:spPr>
            <a:xfrm>
              <a:off x="7270394" y="5517823"/>
              <a:ext cx="1912010" cy="6958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Identification précise des points de friction et des taux de conversion entre chaque étape du cycle de vie.</a:t>
              </a:r>
              <a:endParaRPr lang="en-US" sz="900" dirty="0"/>
            </a:p>
          </p:txBody>
        </p:sp>
        <p:sp>
          <p:nvSpPr>
            <p:cNvPr id="90" name="Shape 43"/>
            <p:cNvSpPr/>
            <p:nvPr/>
          </p:nvSpPr>
          <p:spPr>
            <a:xfrm>
              <a:off x="9435694" y="4421457"/>
              <a:ext cx="2219249" cy="2095805"/>
            </a:xfrm>
            <a:prstGeom prst="roundRect">
              <a:avLst>
                <a:gd name="adj" fmla="val 1587"/>
              </a:avLst>
            </a:prstGeom>
            <a:solidFill>
              <a:srgbClr val="FFFFFF"/>
            </a:solidFill>
            <a:ln/>
            <a:effectLst>
              <a:outerShdw blurRad="101600" dist="25400" dir="16200000" algn="bl" rotWithShape="0">
                <a:srgbClr val="0B2A4A">
                  <a:alpha val="3000"/>
                </a:srgbClr>
              </a:outerShdw>
            </a:effectLst>
          </p:spPr>
          <p:txBody>
            <a:bodyPr/>
            <a:lstStyle/>
            <a:p>
              <a:endParaRPr lang="fr-MA"/>
            </a:p>
          </p:txBody>
        </p:sp>
        <p:sp>
          <p:nvSpPr>
            <p:cNvPr id="91" name="Shape 44"/>
            <p:cNvSpPr/>
            <p:nvPr/>
          </p:nvSpPr>
          <p:spPr>
            <a:xfrm>
              <a:off x="9435694" y="4421457"/>
              <a:ext cx="2219249" cy="28346"/>
            </a:xfrm>
            <a:prstGeom prst="roundRect">
              <a:avLst>
                <a:gd name="adj" fmla="val 117304"/>
              </a:avLst>
            </a:prstGeom>
            <a:solidFill>
              <a:srgbClr val="000000">
                <a:alpha val="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pic>
          <p:nvPicPr>
            <p:cNvPr id="92" name="Image 23" descr="preencoded.png"/>
            <p:cNvPicPr>
              <a:picLocks noChangeAspect="1"/>
            </p:cNvPicPr>
            <p:nvPr/>
          </p:nvPicPr>
          <p:blipFill>
            <a:blip r:embed="rId20"/>
            <a:srcRect/>
            <a:stretch/>
          </p:blipFill>
          <p:spPr>
            <a:xfrm>
              <a:off x="9625889" y="4899688"/>
              <a:ext cx="228600" cy="228600"/>
            </a:xfrm>
            <a:prstGeom prst="rect">
              <a:avLst/>
            </a:prstGeom>
          </p:spPr>
        </p:pic>
        <p:sp>
          <p:nvSpPr>
            <p:cNvPr id="93" name="Text 45"/>
            <p:cNvSpPr txBox="1"/>
            <p:nvPr/>
          </p:nvSpPr>
          <p:spPr>
            <a:xfrm>
              <a:off x="9625889" y="5300196"/>
              <a:ext cx="19147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Prédiction Fiable</a:t>
              </a:r>
              <a:endParaRPr lang="en-US" sz="1200" dirty="0"/>
            </a:p>
          </p:txBody>
        </p:sp>
        <p:sp>
          <p:nvSpPr>
            <p:cNvPr id="94" name="Text 46"/>
            <p:cNvSpPr txBox="1"/>
            <p:nvPr/>
          </p:nvSpPr>
          <p:spPr>
            <a:xfrm>
              <a:off x="9625889" y="5604691"/>
              <a:ext cx="1912010" cy="5239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Anticipation de l'atteinte de l'objectif final basée sur la vélocité des micro-objectifs et l'historique.</a:t>
              </a:r>
              <a:endParaRPr lang="en-US" sz="900" dirty="0"/>
            </a:p>
          </p:txBody>
        </p:sp>
        <p:sp>
          <p:nvSpPr>
            <p:cNvPr id="95" name="Shape 47"/>
            <p:cNvSpPr/>
            <p:nvPr/>
          </p:nvSpPr>
          <p:spPr>
            <a:xfrm>
              <a:off x="7079285" y="6707457"/>
              <a:ext cx="4572000" cy="838505"/>
            </a:xfrm>
            <a:prstGeom prst="roundRect">
              <a:avLst>
                <a:gd name="adj" fmla="val 9914"/>
              </a:avLst>
            </a:prstGeom>
            <a:solidFill>
              <a:srgbClr val="0B2A4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fr-MA"/>
            </a:p>
          </p:txBody>
        </p:sp>
        <p:sp>
          <p:nvSpPr>
            <p:cNvPr id="96" name="Text 48"/>
            <p:cNvSpPr txBox="1"/>
            <p:nvPr/>
          </p:nvSpPr>
          <p:spPr>
            <a:xfrm>
              <a:off x="7270394" y="6903139"/>
              <a:ext cx="3333902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27C7FF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Moyenne observée</a:t>
              </a:r>
              <a:endParaRPr lang="en-US" sz="900" dirty="0"/>
            </a:p>
          </p:txBody>
        </p:sp>
        <p:sp>
          <p:nvSpPr>
            <p:cNvPr id="97" name="Text 49"/>
            <p:cNvSpPr txBox="1"/>
            <p:nvPr/>
          </p:nvSpPr>
          <p:spPr>
            <a:xfrm>
              <a:off x="7270394" y="7121680"/>
              <a:ext cx="37719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Augmentation du taux de conversion final</a:t>
              </a:r>
              <a:endParaRPr lang="en-US" sz="1200" dirty="0"/>
            </a:p>
          </p:txBody>
        </p:sp>
        <p:sp>
          <p:nvSpPr>
            <p:cNvPr id="98" name="Text 50"/>
            <p:cNvSpPr txBox="1"/>
            <p:nvPr/>
          </p:nvSpPr>
          <p:spPr>
            <a:xfrm>
              <a:off x="10564063" y="6898567"/>
              <a:ext cx="89611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2400" b="1" dirty="0">
                  <a:solidFill>
                    <a:srgbClr val="2ECC7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+25%</a:t>
              </a:r>
              <a:endParaRPr lang="en-US" sz="2400" dirty="0"/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892C1610-9640-4D5A-FDAE-2A9F5DCD19D9}"/>
              </a:ext>
            </a:extLst>
          </p:cNvPr>
          <p:cNvGrpSpPr/>
          <p:nvPr/>
        </p:nvGrpSpPr>
        <p:grpSpPr>
          <a:xfrm>
            <a:off x="540410" y="-192303"/>
            <a:ext cx="4385073" cy="729585"/>
            <a:chOff x="540410" y="-192303"/>
            <a:chExt cx="4385073" cy="729585"/>
          </a:xfrm>
        </p:grpSpPr>
        <p:sp>
          <p:nvSpPr>
            <p:cNvPr id="14" name="Text 4">
              <a:extLst>
                <a:ext uri="{FF2B5EF4-FFF2-40B4-BE49-F238E27FC236}">
                  <a16:creationId xmlns:a16="http://schemas.microsoft.com/office/drawing/2014/main" id="{1CB25AE0-0032-0081-993B-536368B7D2DF}"/>
                </a:ext>
              </a:extLst>
            </p:cNvPr>
            <p:cNvSpPr txBox="1"/>
            <p:nvPr/>
          </p:nvSpPr>
          <p:spPr>
            <a:xfrm>
              <a:off x="540410" y="209"/>
              <a:ext cx="232020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 err="1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Campaign</a:t>
              </a:r>
              <a:r>
                <a:rPr lang="en-US" sz="1800" b="1" dirty="0" err="1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Hub</a:t>
              </a:r>
              <a:r>
                <a:rPr lang="en-US" sz="1800" b="1" dirty="0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by</a:t>
              </a:r>
              <a:endParaRPr lang="en-US" sz="1800" dirty="0"/>
            </a:p>
          </p:txBody>
        </p:sp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ACBA2CF4-F096-19A5-6899-C69C8CCB9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17" y="-192303"/>
              <a:ext cx="2064866" cy="7295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8027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95691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480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0" y="438912"/>
            <a:ext cx="12191695" cy="9144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513" y="56693"/>
            <a:ext cx="466344" cy="3236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89513" y="56693"/>
            <a:ext cx="4672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07</a:t>
            </a:r>
            <a:endParaRPr lang="en-US" sz="1200" dirty="0"/>
          </a:p>
        </p:txBody>
      </p:sp>
      <p:sp>
        <p:nvSpPr>
          <p:cNvPr id="61" name="Text 3"/>
          <p:cNvSpPr txBox="1"/>
          <p:nvPr/>
        </p:nvSpPr>
        <p:spPr>
          <a:xfrm>
            <a:off x="849294" y="914521"/>
            <a:ext cx="10039533" cy="410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7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Couverture Complète des Canaux d'Engagement</a:t>
            </a:r>
          </a:p>
        </p:txBody>
      </p:sp>
      <p:sp>
        <p:nvSpPr>
          <p:cNvPr id="63" name="Shape 8"/>
          <p:cNvSpPr/>
          <p:nvPr/>
        </p:nvSpPr>
        <p:spPr>
          <a:xfrm>
            <a:off x="648310" y="895136"/>
            <a:ext cx="57607" cy="418795"/>
          </a:xfrm>
          <a:prstGeom prst="roundRect">
            <a:avLst>
              <a:gd name="adj" fmla="val 793654"/>
            </a:avLst>
          </a:prstGeom>
          <a:solidFill>
            <a:srgbClr val="1F6A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2" name="Shape 4"/>
          <p:cNvSpPr/>
          <p:nvPr/>
        </p:nvSpPr>
        <p:spPr>
          <a:xfrm>
            <a:off x="647395" y="1634527"/>
            <a:ext cx="2581351" cy="2314347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B2A4A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64" name="Shape 5"/>
          <p:cNvSpPr/>
          <p:nvPr/>
        </p:nvSpPr>
        <p:spPr>
          <a:xfrm>
            <a:off x="647395" y="1634527"/>
            <a:ext cx="2581351" cy="38405"/>
          </a:xfrm>
          <a:prstGeom prst="roundRect">
            <a:avLst>
              <a:gd name="adj" fmla="val 106213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6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4834" y="1901532"/>
            <a:ext cx="448056" cy="219456"/>
          </a:xfrm>
          <a:prstGeom prst="rect">
            <a:avLst/>
          </a:prstGeom>
        </p:spPr>
      </p:pic>
      <p:sp>
        <p:nvSpPr>
          <p:cNvPr id="66" name="Text 6"/>
          <p:cNvSpPr/>
          <p:nvPr/>
        </p:nvSpPr>
        <p:spPr>
          <a:xfrm>
            <a:off x="2554834" y="1901532"/>
            <a:ext cx="448056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Actif</a:t>
            </a:r>
            <a:endParaRPr lang="en-US" sz="800" dirty="0"/>
          </a:p>
        </p:txBody>
      </p:sp>
      <p:sp>
        <p:nvSpPr>
          <p:cNvPr id="67" name="Shape 7"/>
          <p:cNvSpPr/>
          <p:nvPr/>
        </p:nvSpPr>
        <p:spPr>
          <a:xfrm>
            <a:off x="875995" y="1901532"/>
            <a:ext cx="571500" cy="571500"/>
          </a:xfrm>
          <a:prstGeom prst="ellipse">
            <a:avLst/>
          </a:prstGeom>
          <a:solidFill>
            <a:srgbClr val="E6FF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6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28700" y="2053323"/>
            <a:ext cx="267005" cy="267005"/>
          </a:xfrm>
          <a:prstGeom prst="rect">
            <a:avLst/>
          </a:prstGeom>
        </p:spPr>
      </p:pic>
      <p:sp>
        <p:nvSpPr>
          <p:cNvPr id="69" name="Text 8"/>
          <p:cNvSpPr txBox="1"/>
          <p:nvPr/>
        </p:nvSpPr>
        <p:spPr>
          <a:xfrm>
            <a:off x="875995" y="2624823"/>
            <a:ext cx="22091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 Marketing</a:t>
            </a:r>
            <a:endParaRPr lang="en-US" sz="1300" dirty="0"/>
          </a:p>
        </p:txBody>
      </p:sp>
      <p:sp>
        <p:nvSpPr>
          <p:cNvPr id="70" name="Text 9"/>
          <p:cNvSpPr txBox="1"/>
          <p:nvPr/>
        </p:nvSpPr>
        <p:spPr>
          <a:xfrm>
            <a:off x="875995" y="2958579"/>
            <a:ext cx="2200961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Gestion avancée des campagnes emails, newsletters transactionnelles et notifications sécurisées avec templates responsive.</a:t>
            </a:r>
            <a:endParaRPr lang="en-US" sz="900" dirty="0"/>
          </a:p>
        </p:txBody>
      </p:sp>
      <p:sp>
        <p:nvSpPr>
          <p:cNvPr id="71" name="Shape 10"/>
          <p:cNvSpPr/>
          <p:nvPr/>
        </p:nvSpPr>
        <p:spPr>
          <a:xfrm>
            <a:off x="3455518" y="1634527"/>
            <a:ext cx="2581351" cy="2314347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B2A4A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72" name="Shape 11"/>
          <p:cNvSpPr/>
          <p:nvPr/>
        </p:nvSpPr>
        <p:spPr>
          <a:xfrm>
            <a:off x="3455518" y="1634527"/>
            <a:ext cx="2581351" cy="38405"/>
          </a:xfrm>
          <a:prstGeom prst="roundRect">
            <a:avLst>
              <a:gd name="adj" fmla="val 106213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7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2042" y="1901532"/>
            <a:ext cx="448056" cy="219456"/>
          </a:xfrm>
          <a:prstGeom prst="rect">
            <a:avLst/>
          </a:prstGeom>
        </p:spPr>
      </p:pic>
      <p:sp>
        <p:nvSpPr>
          <p:cNvPr id="74" name="Text 12"/>
          <p:cNvSpPr/>
          <p:nvPr/>
        </p:nvSpPr>
        <p:spPr>
          <a:xfrm>
            <a:off x="5362042" y="1901532"/>
            <a:ext cx="448056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Actif</a:t>
            </a:r>
            <a:endParaRPr lang="en-US" sz="800" dirty="0"/>
          </a:p>
        </p:txBody>
      </p:sp>
      <p:sp>
        <p:nvSpPr>
          <p:cNvPr id="75" name="Shape 13"/>
          <p:cNvSpPr/>
          <p:nvPr/>
        </p:nvSpPr>
        <p:spPr>
          <a:xfrm>
            <a:off x="3684118" y="1901532"/>
            <a:ext cx="571500" cy="571500"/>
          </a:xfrm>
          <a:prstGeom prst="ellipse">
            <a:avLst/>
          </a:prstGeom>
          <a:solidFill>
            <a:srgbClr val="E6FF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76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35908" y="2053323"/>
            <a:ext cx="267005" cy="267005"/>
          </a:xfrm>
          <a:prstGeom prst="rect">
            <a:avLst/>
          </a:prstGeom>
        </p:spPr>
      </p:pic>
      <p:sp>
        <p:nvSpPr>
          <p:cNvPr id="77" name="Text 14"/>
          <p:cNvSpPr txBox="1"/>
          <p:nvPr/>
        </p:nvSpPr>
        <p:spPr>
          <a:xfrm>
            <a:off x="3684118" y="2624823"/>
            <a:ext cx="22091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SMS</a:t>
            </a:r>
            <a:endParaRPr lang="en-US" sz="1300" dirty="0"/>
          </a:p>
        </p:txBody>
      </p:sp>
      <p:sp>
        <p:nvSpPr>
          <p:cNvPr id="78" name="Text 15"/>
          <p:cNvSpPr txBox="1"/>
          <p:nvPr/>
        </p:nvSpPr>
        <p:spPr>
          <a:xfrm>
            <a:off x="3684118" y="2958579"/>
            <a:ext cx="2200961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Envoi de SMS marketing (promotions) et transactionnels (OTP, alertes solde) avec taux de délivrabilité optimisé.</a:t>
            </a:r>
            <a:endParaRPr lang="en-US" sz="900" dirty="0"/>
          </a:p>
        </p:txBody>
      </p:sp>
      <p:sp>
        <p:nvSpPr>
          <p:cNvPr id="79" name="Shape 16"/>
          <p:cNvSpPr/>
          <p:nvPr/>
        </p:nvSpPr>
        <p:spPr>
          <a:xfrm>
            <a:off x="6262726" y="1634527"/>
            <a:ext cx="2581351" cy="2314347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B2A4A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80" name="Shape 17"/>
          <p:cNvSpPr/>
          <p:nvPr/>
        </p:nvSpPr>
        <p:spPr>
          <a:xfrm>
            <a:off x="6262726" y="1634527"/>
            <a:ext cx="2581351" cy="38405"/>
          </a:xfrm>
          <a:prstGeom prst="roundRect">
            <a:avLst>
              <a:gd name="adj" fmla="val 106213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8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164" y="1901532"/>
            <a:ext cx="448056" cy="219456"/>
          </a:xfrm>
          <a:prstGeom prst="rect">
            <a:avLst/>
          </a:prstGeom>
        </p:spPr>
      </p:pic>
      <p:sp>
        <p:nvSpPr>
          <p:cNvPr id="82" name="Text 18"/>
          <p:cNvSpPr/>
          <p:nvPr/>
        </p:nvSpPr>
        <p:spPr>
          <a:xfrm>
            <a:off x="8170164" y="1901532"/>
            <a:ext cx="448056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Actif</a:t>
            </a:r>
            <a:endParaRPr lang="en-US" sz="800" dirty="0"/>
          </a:p>
        </p:txBody>
      </p:sp>
      <p:sp>
        <p:nvSpPr>
          <p:cNvPr id="83" name="Shape 19"/>
          <p:cNvSpPr/>
          <p:nvPr/>
        </p:nvSpPr>
        <p:spPr>
          <a:xfrm>
            <a:off x="6491326" y="1901532"/>
            <a:ext cx="571500" cy="571500"/>
          </a:xfrm>
          <a:prstGeom prst="ellipse">
            <a:avLst/>
          </a:prstGeom>
          <a:solidFill>
            <a:srgbClr val="E6FF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84" name="Image 6" descr="preencoded.png"/>
          <p:cNvPicPr>
            <a:picLocks noChangeAspect="1"/>
          </p:cNvPicPr>
          <p:nvPr/>
        </p:nvPicPr>
        <p:blipFill>
          <a:blip r:embed="rId7"/>
          <a:srcRect l="-881" r="-881"/>
          <a:stretch/>
        </p:blipFill>
        <p:spPr>
          <a:xfrm>
            <a:off x="6657746" y="2053323"/>
            <a:ext cx="237744" cy="267005"/>
          </a:xfrm>
          <a:prstGeom prst="rect">
            <a:avLst/>
          </a:prstGeom>
        </p:spPr>
      </p:pic>
      <p:sp>
        <p:nvSpPr>
          <p:cNvPr id="85" name="Text 20"/>
          <p:cNvSpPr txBox="1"/>
          <p:nvPr/>
        </p:nvSpPr>
        <p:spPr>
          <a:xfrm>
            <a:off x="6491326" y="2624823"/>
            <a:ext cx="22091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Push Notifications</a:t>
            </a:r>
            <a:endParaRPr lang="en-US" sz="1300" dirty="0"/>
          </a:p>
        </p:txBody>
      </p:sp>
      <p:sp>
        <p:nvSpPr>
          <p:cNvPr id="86" name="Text 21"/>
          <p:cNvSpPr txBox="1"/>
          <p:nvPr/>
        </p:nvSpPr>
        <p:spPr>
          <a:xfrm>
            <a:off x="6491326" y="2958579"/>
            <a:ext cx="2200961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Notifications push web et mobile ciblées pour réengager les utilisateurs inactifs ou pousser des offres flash.</a:t>
            </a:r>
            <a:endParaRPr lang="en-US" sz="900" dirty="0"/>
          </a:p>
        </p:txBody>
      </p:sp>
      <p:sp>
        <p:nvSpPr>
          <p:cNvPr id="87" name="Shape 22"/>
          <p:cNvSpPr/>
          <p:nvPr/>
        </p:nvSpPr>
        <p:spPr>
          <a:xfrm>
            <a:off x="9069934" y="1634527"/>
            <a:ext cx="2581351" cy="2314347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B2A4A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88" name="Shape 23"/>
          <p:cNvSpPr/>
          <p:nvPr/>
        </p:nvSpPr>
        <p:spPr>
          <a:xfrm>
            <a:off x="9069934" y="1634527"/>
            <a:ext cx="2581351" cy="38405"/>
          </a:xfrm>
          <a:prstGeom prst="roundRect">
            <a:avLst>
              <a:gd name="adj" fmla="val 106213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8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7372" y="1901532"/>
            <a:ext cx="448056" cy="219456"/>
          </a:xfrm>
          <a:prstGeom prst="rect">
            <a:avLst/>
          </a:prstGeom>
        </p:spPr>
      </p:pic>
      <p:sp>
        <p:nvSpPr>
          <p:cNvPr id="90" name="Text 24"/>
          <p:cNvSpPr/>
          <p:nvPr/>
        </p:nvSpPr>
        <p:spPr>
          <a:xfrm>
            <a:off x="10977372" y="1901532"/>
            <a:ext cx="448056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Actif</a:t>
            </a:r>
            <a:endParaRPr lang="en-US" sz="800" dirty="0"/>
          </a:p>
        </p:txBody>
      </p:sp>
      <p:sp>
        <p:nvSpPr>
          <p:cNvPr id="91" name="Shape 25"/>
          <p:cNvSpPr/>
          <p:nvPr/>
        </p:nvSpPr>
        <p:spPr>
          <a:xfrm>
            <a:off x="9298534" y="1901532"/>
            <a:ext cx="571500" cy="571500"/>
          </a:xfrm>
          <a:prstGeom prst="ellipse">
            <a:avLst/>
          </a:prstGeom>
          <a:solidFill>
            <a:srgbClr val="E6FF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92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451238" y="2053323"/>
            <a:ext cx="267005" cy="267005"/>
          </a:xfrm>
          <a:prstGeom prst="rect">
            <a:avLst/>
          </a:prstGeom>
        </p:spPr>
      </p:pic>
      <p:sp>
        <p:nvSpPr>
          <p:cNvPr id="93" name="Text 26"/>
          <p:cNvSpPr txBox="1"/>
          <p:nvPr/>
        </p:nvSpPr>
        <p:spPr>
          <a:xfrm>
            <a:off x="9298534" y="2624823"/>
            <a:ext cx="22091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Messages</a:t>
            </a:r>
            <a:endParaRPr lang="en-US" sz="1300" dirty="0"/>
          </a:p>
        </p:txBody>
      </p:sp>
      <p:sp>
        <p:nvSpPr>
          <p:cNvPr id="94" name="Text 27"/>
          <p:cNvSpPr txBox="1"/>
          <p:nvPr/>
        </p:nvSpPr>
        <p:spPr>
          <a:xfrm>
            <a:off x="9298534" y="2958579"/>
            <a:ext cx="2200961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Personnalisation du site web et pop-ups contextuels basés sur le comportement de navigation en temps réel.</a:t>
            </a:r>
            <a:endParaRPr lang="en-US" sz="900" dirty="0"/>
          </a:p>
        </p:txBody>
      </p:sp>
      <p:sp>
        <p:nvSpPr>
          <p:cNvPr id="95" name="Shape 28"/>
          <p:cNvSpPr/>
          <p:nvPr/>
        </p:nvSpPr>
        <p:spPr>
          <a:xfrm>
            <a:off x="647395" y="4271317"/>
            <a:ext cx="2581351" cy="2306330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B2A4A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96" name="Shape 29"/>
          <p:cNvSpPr/>
          <p:nvPr/>
        </p:nvSpPr>
        <p:spPr>
          <a:xfrm>
            <a:off x="647395" y="4271316"/>
            <a:ext cx="2581351" cy="38405"/>
          </a:xfrm>
          <a:prstGeom prst="roundRect">
            <a:avLst>
              <a:gd name="adj" fmla="val 106213"/>
            </a:avLst>
          </a:prstGeom>
          <a:solidFill>
            <a:srgbClr val="25D366"/>
          </a:solidFill>
          <a:ln w="12700">
            <a:solidFill>
              <a:srgbClr val="25D3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9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4834" y="4537406"/>
            <a:ext cx="448056" cy="219456"/>
          </a:xfrm>
          <a:prstGeom prst="rect">
            <a:avLst/>
          </a:prstGeom>
        </p:spPr>
      </p:pic>
      <p:sp>
        <p:nvSpPr>
          <p:cNvPr id="98" name="Text 30"/>
          <p:cNvSpPr/>
          <p:nvPr/>
        </p:nvSpPr>
        <p:spPr>
          <a:xfrm>
            <a:off x="2554834" y="4537406"/>
            <a:ext cx="448056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Actif</a:t>
            </a:r>
            <a:endParaRPr lang="en-US" sz="800" dirty="0"/>
          </a:p>
        </p:txBody>
      </p:sp>
      <p:sp>
        <p:nvSpPr>
          <p:cNvPr id="99" name="Shape 31"/>
          <p:cNvSpPr/>
          <p:nvPr/>
        </p:nvSpPr>
        <p:spPr>
          <a:xfrm>
            <a:off x="875995" y="4537406"/>
            <a:ext cx="571500" cy="57150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00" name="Image 10" descr="preencoded.png"/>
          <p:cNvPicPr>
            <a:picLocks noChangeAspect="1"/>
          </p:cNvPicPr>
          <p:nvPr/>
        </p:nvPicPr>
        <p:blipFill>
          <a:blip r:embed="rId9"/>
          <a:srcRect l="-881" r="-881"/>
          <a:stretch/>
        </p:blipFill>
        <p:spPr>
          <a:xfrm>
            <a:off x="1043330" y="4690111"/>
            <a:ext cx="237744" cy="267005"/>
          </a:xfrm>
          <a:prstGeom prst="rect">
            <a:avLst/>
          </a:prstGeom>
        </p:spPr>
      </p:pic>
      <p:sp>
        <p:nvSpPr>
          <p:cNvPr id="101" name="Text 32"/>
          <p:cNvSpPr txBox="1"/>
          <p:nvPr/>
        </p:nvSpPr>
        <p:spPr>
          <a:xfrm>
            <a:off x="875995" y="5261611"/>
            <a:ext cx="22091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</a:t>
            </a:r>
            <a:endParaRPr lang="en-US" sz="1300" dirty="0"/>
          </a:p>
        </p:txBody>
      </p:sp>
      <p:sp>
        <p:nvSpPr>
          <p:cNvPr id="102" name="Text 33"/>
          <p:cNvSpPr txBox="1"/>
          <p:nvPr/>
        </p:nvSpPr>
        <p:spPr>
          <a:xfrm>
            <a:off x="875995" y="5595367"/>
            <a:ext cx="2200961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Intégration native pour conversations bidirectionnelles, support client et notifications riches (images, fichiers).</a:t>
            </a:r>
            <a:endParaRPr lang="en-US" sz="900" dirty="0"/>
          </a:p>
        </p:txBody>
      </p:sp>
      <p:sp>
        <p:nvSpPr>
          <p:cNvPr id="103" name="Shape 34"/>
          <p:cNvSpPr/>
          <p:nvPr/>
        </p:nvSpPr>
        <p:spPr>
          <a:xfrm>
            <a:off x="3455518" y="4271317"/>
            <a:ext cx="2581351" cy="2306330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B2A4A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04" name="Shape 35"/>
          <p:cNvSpPr/>
          <p:nvPr/>
        </p:nvSpPr>
        <p:spPr>
          <a:xfrm>
            <a:off x="3455518" y="4271316"/>
            <a:ext cx="2581351" cy="38405"/>
          </a:xfrm>
          <a:prstGeom prst="roundRect">
            <a:avLst>
              <a:gd name="adj" fmla="val 106213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0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2042" y="4537406"/>
            <a:ext cx="448056" cy="219456"/>
          </a:xfrm>
          <a:prstGeom prst="rect">
            <a:avLst/>
          </a:prstGeom>
        </p:spPr>
      </p:pic>
      <p:sp>
        <p:nvSpPr>
          <p:cNvPr id="106" name="Text 36"/>
          <p:cNvSpPr/>
          <p:nvPr/>
        </p:nvSpPr>
        <p:spPr>
          <a:xfrm>
            <a:off x="5362042" y="4537406"/>
            <a:ext cx="448056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Actif</a:t>
            </a:r>
            <a:endParaRPr lang="en-US" sz="800" dirty="0"/>
          </a:p>
        </p:txBody>
      </p:sp>
      <p:sp>
        <p:nvSpPr>
          <p:cNvPr id="107" name="Shape 37"/>
          <p:cNvSpPr/>
          <p:nvPr/>
        </p:nvSpPr>
        <p:spPr>
          <a:xfrm>
            <a:off x="3684118" y="4537406"/>
            <a:ext cx="571500" cy="571500"/>
          </a:xfrm>
          <a:prstGeom prst="ellipse">
            <a:avLst/>
          </a:prstGeom>
          <a:solidFill>
            <a:srgbClr val="E6FF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08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869741" y="4690111"/>
            <a:ext cx="200254" cy="267005"/>
          </a:xfrm>
          <a:prstGeom prst="rect">
            <a:avLst/>
          </a:prstGeom>
        </p:spPr>
      </p:pic>
      <p:sp>
        <p:nvSpPr>
          <p:cNvPr id="109" name="Text 38"/>
          <p:cNvSpPr txBox="1"/>
          <p:nvPr/>
        </p:nvSpPr>
        <p:spPr>
          <a:xfrm>
            <a:off x="3684118" y="5261611"/>
            <a:ext cx="22091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In-app Messaging</a:t>
            </a:r>
            <a:endParaRPr lang="en-US" sz="1300" dirty="0"/>
          </a:p>
        </p:txBody>
      </p:sp>
      <p:sp>
        <p:nvSpPr>
          <p:cNvPr id="110" name="Text 39"/>
          <p:cNvSpPr txBox="1"/>
          <p:nvPr/>
        </p:nvSpPr>
        <p:spPr>
          <a:xfrm>
            <a:off x="3684118" y="5595367"/>
            <a:ext cx="2200961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Messages interstitiels et bannières au sein de l'application bancaire pour guider l'utilisateur sans quitter l'app.</a:t>
            </a:r>
            <a:endParaRPr lang="en-US" sz="900" dirty="0"/>
          </a:p>
        </p:txBody>
      </p:sp>
      <p:sp>
        <p:nvSpPr>
          <p:cNvPr id="111" name="Shape 40"/>
          <p:cNvSpPr/>
          <p:nvPr/>
        </p:nvSpPr>
        <p:spPr>
          <a:xfrm>
            <a:off x="6262726" y="4271317"/>
            <a:ext cx="2581351" cy="2306330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B2A4A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12" name="Shape 41"/>
          <p:cNvSpPr/>
          <p:nvPr/>
        </p:nvSpPr>
        <p:spPr>
          <a:xfrm>
            <a:off x="6262726" y="4271316"/>
            <a:ext cx="2581351" cy="38405"/>
          </a:xfrm>
          <a:prstGeom prst="roundRect">
            <a:avLst>
              <a:gd name="adj" fmla="val 106213"/>
            </a:avLst>
          </a:prstGeom>
          <a:solidFill>
            <a:srgbClr val="F4B400"/>
          </a:solidFill>
          <a:ln w="12700">
            <a:solidFill>
              <a:srgbClr val="F4B4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15" name="Shape 43"/>
          <p:cNvSpPr/>
          <p:nvPr/>
        </p:nvSpPr>
        <p:spPr>
          <a:xfrm>
            <a:off x="6491326" y="4537406"/>
            <a:ext cx="571500" cy="571500"/>
          </a:xfrm>
          <a:prstGeom prst="ellipse">
            <a:avLst/>
          </a:prstGeom>
          <a:solidFill>
            <a:srgbClr val="E6FF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16" name="Image 14" descr="preencoded.png"/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676949" y="4690111"/>
            <a:ext cx="200254" cy="267005"/>
          </a:xfrm>
          <a:prstGeom prst="rect">
            <a:avLst/>
          </a:prstGeom>
          <a:solidFill>
            <a:srgbClr val="E6FF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pic>
      <p:sp>
        <p:nvSpPr>
          <p:cNvPr id="117" name="Text 44"/>
          <p:cNvSpPr txBox="1"/>
          <p:nvPr/>
        </p:nvSpPr>
        <p:spPr>
          <a:xfrm>
            <a:off x="6491326" y="5261611"/>
            <a:ext cx="22091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Voice / Vocal</a:t>
            </a:r>
            <a:endParaRPr lang="en-US" sz="1300" dirty="0"/>
          </a:p>
        </p:txBody>
      </p:sp>
      <p:sp>
        <p:nvSpPr>
          <p:cNvPr id="118" name="Text 45"/>
          <p:cNvSpPr txBox="1"/>
          <p:nvPr/>
        </p:nvSpPr>
        <p:spPr>
          <a:xfrm>
            <a:off x="6491326" y="5595367"/>
            <a:ext cx="2200961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Campagnes d'appels sortants automatisés (Vocal Drops) pour rappels de RDV ou alertes fraude urgentes.</a:t>
            </a:r>
            <a:endParaRPr lang="en-US" sz="900" dirty="0"/>
          </a:p>
        </p:txBody>
      </p:sp>
      <p:sp>
        <p:nvSpPr>
          <p:cNvPr id="119" name="Shape 46"/>
          <p:cNvSpPr/>
          <p:nvPr/>
        </p:nvSpPr>
        <p:spPr>
          <a:xfrm>
            <a:off x="9069934" y="4271317"/>
            <a:ext cx="2581351" cy="2306330"/>
          </a:xfrm>
          <a:prstGeom prst="roundRect">
            <a:avLst>
              <a:gd name="adj" fmla="val 1592"/>
            </a:avLst>
          </a:prstGeom>
          <a:solidFill>
            <a:srgbClr val="0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20" name="Image 15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439705" y="5763043"/>
            <a:ext cx="1399946" cy="1399946"/>
          </a:xfrm>
          <a:prstGeom prst="rect">
            <a:avLst/>
          </a:prstGeom>
        </p:spPr>
      </p:pic>
      <p:pic>
        <p:nvPicPr>
          <p:cNvPr id="121" name="Image 16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298534" y="4595014"/>
            <a:ext cx="381305" cy="381305"/>
          </a:xfrm>
          <a:prstGeom prst="rect">
            <a:avLst/>
          </a:prstGeom>
        </p:spPr>
      </p:pic>
      <p:sp>
        <p:nvSpPr>
          <p:cNvPr id="122" name="Text 47"/>
          <p:cNvSpPr txBox="1"/>
          <p:nvPr/>
        </p:nvSpPr>
        <p:spPr>
          <a:xfrm>
            <a:off x="9298534" y="5223206"/>
            <a:ext cx="22091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Fail-over</a:t>
            </a:r>
            <a:endParaRPr lang="en-US" sz="1300" dirty="0"/>
          </a:p>
        </p:txBody>
      </p:sp>
      <p:sp>
        <p:nvSpPr>
          <p:cNvPr id="123" name="Text 48"/>
          <p:cNvSpPr txBox="1"/>
          <p:nvPr/>
        </p:nvSpPr>
        <p:spPr>
          <a:xfrm>
            <a:off x="9298534" y="5556962"/>
            <a:ext cx="2200961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Logique de bascule automatique entre canaux pour garantir la réception :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E2E8F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 Push non lu &gt; 2h → Envoi SMS → Si échec → Email.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Maximise le taux de contact tout en optimisant les coûts.</a:t>
            </a:r>
            <a:endParaRPr lang="en-US" sz="900" dirty="0"/>
          </a:p>
        </p:txBody>
      </p:sp>
      <p:sp>
        <p:nvSpPr>
          <p:cNvPr id="125" name="Text 50"/>
          <p:cNvSpPr txBox="1"/>
          <p:nvPr/>
        </p:nvSpPr>
        <p:spPr>
          <a:xfrm>
            <a:off x="677113" y="6653542"/>
            <a:ext cx="221101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CampaignHub - Executive Deck 2026</a:t>
            </a:r>
            <a:endParaRPr lang="en-US" sz="900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59A9D07A-F1E8-E179-5D91-E4F7F59E1716}"/>
              </a:ext>
            </a:extLst>
          </p:cNvPr>
          <p:cNvGrpSpPr/>
          <p:nvPr/>
        </p:nvGrpSpPr>
        <p:grpSpPr>
          <a:xfrm>
            <a:off x="540410" y="-192303"/>
            <a:ext cx="4385073" cy="729585"/>
            <a:chOff x="540410" y="-192303"/>
            <a:chExt cx="4385073" cy="729585"/>
          </a:xfrm>
        </p:grpSpPr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B752FB9D-D1FC-3A34-47EC-7EA5A126C92F}"/>
                </a:ext>
              </a:extLst>
            </p:cNvPr>
            <p:cNvSpPr txBox="1"/>
            <p:nvPr/>
          </p:nvSpPr>
          <p:spPr>
            <a:xfrm>
              <a:off x="540410" y="209"/>
              <a:ext cx="232020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 err="1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Campaign</a:t>
              </a:r>
              <a:r>
                <a:rPr lang="en-US" sz="1800" b="1" dirty="0" err="1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Hub</a:t>
              </a:r>
              <a:r>
                <a:rPr lang="en-US" sz="1800" b="1" dirty="0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by</a:t>
              </a:r>
              <a:endParaRPr lang="en-US" sz="1800" dirty="0"/>
            </a:p>
          </p:txBody>
        </p:sp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EC923F01-DD92-2F41-CAC5-A1940D717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17" y="-192303"/>
              <a:ext cx="2064866" cy="7295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397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95691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480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0" y="438912"/>
            <a:ext cx="12191695" cy="9144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513" y="56693"/>
            <a:ext cx="466344" cy="3236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89513" y="56693"/>
            <a:ext cx="4672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08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41814" y="987552"/>
            <a:ext cx="1018309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fait réellement CampaignHub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648310" y="1035101"/>
            <a:ext cx="57607" cy="418795"/>
          </a:xfrm>
          <a:prstGeom prst="roundRect">
            <a:avLst>
              <a:gd name="adj" fmla="val 793654"/>
            </a:avLst>
          </a:prstGeom>
          <a:solidFill>
            <a:srgbClr val="1F6A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1666224" y="1882750"/>
            <a:ext cx="8883880" cy="45436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389514" y="2320747"/>
            <a:ext cx="52102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6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Plateforme d'Orchestration </a:t>
            </a:r>
            <a:endParaRPr lang="en-US" sz="18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046614" y="2378354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046614" y="2758745"/>
            <a:ext cx="55531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Conception et pilotage de parcours clients dynamiques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2046614" y="3301898"/>
            <a:ext cx="457200" cy="457200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203891" y="3435401"/>
            <a:ext cx="142646" cy="19019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694924" y="3301898"/>
            <a:ext cx="443049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 parcours </a:t>
            </a:r>
            <a:r>
              <a:rPr lang="en-US" sz="1500" b="1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 digitaux</a:t>
            </a:r>
            <a:r>
              <a:rPr lang="en-US" sz="15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automatisés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2046614" y="3949294"/>
            <a:ext cx="457200" cy="457200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2190175" y="4082796"/>
            <a:ext cx="171907" cy="1901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2694923" y="4062411"/>
            <a:ext cx="366274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 parcours </a:t>
            </a:r>
            <a:r>
              <a:rPr lang="en-US" sz="1500" b="1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100 % humains</a:t>
            </a:r>
            <a:r>
              <a:rPr lang="en-US" sz="15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assistés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2046614" y="4683863"/>
            <a:ext cx="457200" cy="457200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156342" y="4817366"/>
            <a:ext cx="237744" cy="19019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694924" y="4822924"/>
            <a:ext cx="6699239" cy="322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 parcours </a:t>
            </a:r>
            <a:r>
              <a:rPr lang="en-US" sz="1500" b="1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hybrides</a:t>
            </a:r>
            <a:r>
              <a:rPr lang="en-US" sz="15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combinant automatisation et intervention humaine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046614" y="5416906"/>
            <a:ext cx="457200" cy="457200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180116" y="5549494"/>
            <a:ext cx="190195" cy="19019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694924" y="5544166"/>
            <a:ext cx="5940115" cy="322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 tout piloté en </a:t>
            </a:r>
            <a:r>
              <a:rPr lang="en-US" sz="1500" b="1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temps réel</a:t>
            </a:r>
            <a:r>
              <a:rPr lang="en-US" sz="15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sans rigidité organisationnelle</a:t>
            </a:r>
            <a:endParaRPr lang="en-US" sz="1500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1EC151CD-2B56-E607-8803-6771256AB943}"/>
              </a:ext>
            </a:extLst>
          </p:cNvPr>
          <p:cNvGrpSpPr/>
          <p:nvPr/>
        </p:nvGrpSpPr>
        <p:grpSpPr>
          <a:xfrm>
            <a:off x="540410" y="-192303"/>
            <a:ext cx="4385073" cy="729585"/>
            <a:chOff x="540410" y="-192303"/>
            <a:chExt cx="4385073" cy="729585"/>
          </a:xfrm>
        </p:grpSpPr>
        <p:sp>
          <p:nvSpPr>
            <p:cNvPr id="28" name="Text 4">
              <a:extLst>
                <a:ext uri="{FF2B5EF4-FFF2-40B4-BE49-F238E27FC236}">
                  <a16:creationId xmlns:a16="http://schemas.microsoft.com/office/drawing/2014/main" id="{7A753CD1-650B-A649-0C7B-4767726EC11E}"/>
                </a:ext>
              </a:extLst>
            </p:cNvPr>
            <p:cNvSpPr txBox="1"/>
            <p:nvPr/>
          </p:nvSpPr>
          <p:spPr>
            <a:xfrm>
              <a:off x="540410" y="209"/>
              <a:ext cx="232020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 err="1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Campaign</a:t>
              </a:r>
              <a:r>
                <a:rPr lang="en-US" sz="1800" b="1" dirty="0" err="1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Hub</a:t>
              </a:r>
              <a:r>
                <a:rPr lang="en-US" sz="1800" b="1" dirty="0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by</a:t>
              </a:r>
              <a:endParaRPr lang="en-US" sz="1800" dirty="0"/>
            </a:p>
          </p:txBody>
        </p:sp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1D3855ED-EBCD-0492-CE3F-2D0C6F602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17" y="-192303"/>
              <a:ext cx="2064866" cy="7295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7" name="Shape 1">
            <a:extLst>
              <a:ext uri="{FF2B5EF4-FFF2-40B4-BE49-F238E27FC236}">
                <a16:creationId xmlns:a16="http://schemas.microsoft.com/office/drawing/2014/main" id="{B422B488-5DAC-56CF-C7A1-7646E8806CE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8" name="Shape 2">
            <a:extLst>
              <a:ext uri="{FF2B5EF4-FFF2-40B4-BE49-F238E27FC236}">
                <a16:creationId xmlns:a16="http://schemas.microsoft.com/office/drawing/2014/main" id="{0F6C2056-7976-6ED4-8415-869099258285}"/>
              </a:ext>
            </a:extLst>
          </p:cNvPr>
          <p:cNvSpPr/>
          <p:nvPr/>
        </p:nvSpPr>
        <p:spPr>
          <a:xfrm>
            <a:off x="0" y="0"/>
            <a:ext cx="12191695" cy="4480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513" y="9144"/>
            <a:ext cx="466344" cy="3236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89513" y="9144"/>
            <a:ext cx="4672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09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36676" y="712318"/>
            <a:ext cx="105837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Concevoir des parcours intelligents, pas des campagnes figées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48310" y="759866"/>
            <a:ext cx="57607" cy="362102"/>
          </a:xfrm>
          <a:prstGeom prst="roundRect">
            <a:avLst>
              <a:gd name="adj" fmla="val 793654"/>
            </a:avLst>
          </a:prstGeom>
          <a:solidFill>
            <a:srgbClr val="1F6A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2" name="Shape 9"/>
          <p:cNvSpPr/>
          <p:nvPr/>
        </p:nvSpPr>
        <p:spPr>
          <a:xfrm>
            <a:off x="648310" y="1454810"/>
            <a:ext cx="3543300" cy="1095451"/>
          </a:xfrm>
          <a:prstGeom prst="roundRect">
            <a:avLst>
              <a:gd name="adj" fmla="val 580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3" name="Shape 10"/>
          <p:cNvSpPr/>
          <p:nvPr/>
        </p:nvSpPr>
        <p:spPr>
          <a:xfrm>
            <a:off x="648310" y="1454810"/>
            <a:ext cx="3543300" cy="38405"/>
          </a:xfrm>
          <a:prstGeom prst="roundRect">
            <a:avLst>
              <a:gd name="adj" fmla="val 165631"/>
            </a:avLst>
          </a:prstGeom>
          <a:solidFill>
            <a:srgbClr val="1F6AE1"/>
          </a:solidFill>
          <a:ln w="12700">
            <a:solidFill>
              <a:srgbClr val="1F6A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4" name="Shape 11"/>
          <p:cNvSpPr/>
          <p:nvPr/>
        </p:nvSpPr>
        <p:spPr>
          <a:xfrm>
            <a:off x="838505" y="1780337"/>
            <a:ext cx="476402" cy="476402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933602" y="1903781"/>
            <a:ext cx="286207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57554" y="1794967"/>
            <a:ext cx="19522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Définir des règles métier</a:t>
            </a:r>
            <a:endParaRPr lang="en-US" sz="13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(montant, profil, comportement)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379062" y="1454810"/>
            <a:ext cx="3543300" cy="1095451"/>
          </a:xfrm>
          <a:prstGeom prst="roundRect">
            <a:avLst>
              <a:gd name="adj" fmla="val 580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8" name="Shape 14"/>
          <p:cNvSpPr/>
          <p:nvPr/>
        </p:nvSpPr>
        <p:spPr>
          <a:xfrm>
            <a:off x="4379062" y="1454810"/>
            <a:ext cx="3543300" cy="38405"/>
          </a:xfrm>
          <a:prstGeom prst="roundRect">
            <a:avLst>
              <a:gd name="adj" fmla="val 165631"/>
            </a:avLst>
          </a:prstGeom>
          <a:solidFill>
            <a:srgbClr val="1F6AE1"/>
          </a:solidFill>
          <a:ln w="12700">
            <a:solidFill>
              <a:srgbClr val="1F6A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9" name="Shape 15"/>
          <p:cNvSpPr/>
          <p:nvPr/>
        </p:nvSpPr>
        <p:spPr>
          <a:xfrm>
            <a:off x="4570171" y="1780337"/>
            <a:ext cx="476402" cy="476402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4708246" y="1903781"/>
            <a:ext cx="200254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189220" y="1683410"/>
            <a:ext cx="26197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Créer des branches conditionnelles</a:t>
            </a:r>
            <a:endParaRPr lang="en-US" sz="13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(scénarios if/then visuels)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110728" y="1454810"/>
            <a:ext cx="3543300" cy="1095451"/>
          </a:xfrm>
          <a:prstGeom prst="roundRect">
            <a:avLst>
              <a:gd name="adj" fmla="val 580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3" name="Shape 18"/>
          <p:cNvSpPr/>
          <p:nvPr/>
        </p:nvSpPr>
        <p:spPr>
          <a:xfrm>
            <a:off x="8110728" y="1454810"/>
            <a:ext cx="3543300" cy="38405"/>
          </a:xfrm>
          <a:prstGeom prst="roundRect">
            <a:avLst>
              <a:gd name="adj" fmla="val 165631"/>
            </a:avLst>
          </a:prstGeom>
          <a:solidFill>
            <a:srgbClr val="1F6AE1"/>
          </a:solidFill>
          <a:ln w="12700">
            <a:solidFill>
              <a:srgbClr val="1F6A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4" name="Shape 19"/>
          <p:cNvSpPr/>
          <p:nvPr/>
        </p:nvSpPr>
        <p:spPr>
          <a:xfrm>
            <a:off x="8301838" y="1780337"/>
            <a:ext cx="476402" cy="476402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25282" y="1903781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920886" y="1794967"/>
            <a:ext cx="22101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Ajuster le parcours en cours</a:t>
            </a:r>
            <a:endParaRPr lang="en-US" sz="13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(agilité temps réel)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48310" y="2696962"/>
            <a:ext cx="11125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Logique d'Orchestration Hybride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648310" y="2678300"/>
            <a:ext cx="7083857" cy="9144"/>
          </a:xfrm>
          <a:prstGeom prst="rect">
            <a:avLst/>
          </a:prstGeom>
          <a:solidFill>
            <a:srgbClr val="D1D9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9" name="Shape 23"/>
          <p:cNvSpPr/>
          <p:nvPr/>
        </p:nvSpPr>
        <p:spPr>
          <a:xfrm>
            <a:off x="648310" y="3077893"/>
            <a:ext cx="11011205" cy="694944"/>
          </a:xfrm>
          <a:prstGeom prst="roundRect">
            <a:avLst>
              <a:gd name="adj" fmla="val 144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0" name="Text 24"/>
          <p:cNvSpPr txBox="1"/>
          <p:nvPr/>
        </p:nvSpPr>
        <p:spPr>
          <a:xfrm>
            <a:off x="952805" y="3311065"/>
            <a:ext cx="2362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Parcours Simple </a:t>
            </a:r>
            <a:endParaRPr lang="en-US" sz="12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8505" y="3368672"/>
            <a:ext cx="114300" cy="114300"/>
          </a:xfrm>
          <a:prstGeom prst="rect">
            <a:avLst/>
          </a:prstGeom>
        </p:spPr>
      </p:pic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l="-760" r="-760"/>
          <a:stretch/>
        </p:blipFill>
        <p:spPr>
          <a:xfrm>
            <a:off x="3409798" y="3337583"/>
            <a:ext cx="152705" cy="171907"/>
          </a:xfrm>
          <a:prstGeom prst="rect">
            <a:avLst/>
          </a:prstGeom>
        </p:spPr>
      </p:pic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2698" y="3220540"/>
            <a:ext cx="7715707" cy="40965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229100" y="3220540"/>
            <a:ext cx="7239305" cy="409651"/>
          </a:xfrm>
          <a:prstGeom prst="rect">
            <a:avLst/>
          </a:prstGeom>
          <a:solidFill>
            <a:srgbClr val="FFFFFF">
              <a:alpha val="0"/>
            </a:srgbClr>
          </a:solidFill>
          <a:ln w="50800">
            <a:solidFill>
              <a:srgbClr val="1F6A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A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Automatisation Complète (100% Digital)</a:t>
            </a:r>
            <a:endParaRPr lang="en-US" sz="13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rcRect l="-1064" r="-1064"/>
          <a:stretch/>
        </p:blipFill>
        <p:spPr>
          <a:xfrm>
            <a:off x="3933749" y="3340326"/>
            <a:ext cx="219456" cy="171907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648310" y="3916398"/>
            <a:ext cx="11011205" cy="694944"/>
          </a:xfrm>
          <a:prstGeom prst="roundRect">
            <a:avLst>
              <a:gd name="adj" fmla="val 144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7" name="Text 27"/>
          <p:cNvSpPr txBox="1"/>
          <p:nvPr/>
        </p:nvSpPr>
        <p:spPr>
          <a:xfrm>
            <a:off x="952805" y="4149570"/>
            <a:ext cx="2362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Parcours à Enjeu </a:t>
            </a:r>
            <a:endParaRPr lang="en-US" sz="12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8505" y="4207177"/>
            <a:ext cx="114300" cy="114300"/>
          </a:xfrm>
          <a:prstGeom prst="rect">
            <a:avLst/>
          </a:prstGeom>
        </p:spPr>
      </p:pic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8"/>
          <a:srcRect l="-760" r="-760"/>
          <a:stretch/>
        </p:blipFill>
        <p:spPr>
          <a:xfrm>
            <a:off x="3409798" y="4176088"/>
            <a:ext cx="152705" cy="171907"/>
          </a:xfrm>
          <a:prstGeom prst="rect">
            <a:avLst/>
          </a:prstGeom>
        </p:spPr>
      </p:pic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52698" y="4059044"/>
            <a:ext cx="7715707" cy="409651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4181551" y="4059044"/>
            <a:ext cx="7286854" cy="409651"/>
          </a:xfrm>
          <a:prstGeom prst="rect">
            <a:avLst/>
          </a:prstGeom>
          <a:solidFill>
            <a:srgbClr val="FFFFFF">
              <a:alpha val="0"/>
            </a:srgbClr>
          </a:solidFill>
          <a:ln w="50800">
            <a:solidFill>
              <a:srgbClr val="F4B4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4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Intervention Ciblée Chargé de </a:t>
            </a:r>
            <a:r>
              <a:rPr lang="en-US" sz="1300" b="1" dirty="0" err="1">
                <a:solidFill>
                  <a:srgbClr val="F4B4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Clientèle</a:t>
            </a:r>
            <a:r>
              <a:rPr lang="en-US" sz="1300" b="1" dirty="0">
                <a:solidFill>
                  <a:srgbClr val="F4B4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0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933749" y="4177916"/>
            <a:ext cx="171907" cy="171907"/>
          </a:xfrm>
          <a:prstGeom prst="rect">
            <a:avLst/>
          </a:prstGeom>
        </p:spPr>
      </p:pic>
      <p:sp>
        <p:nvSpPr>
          <p:cNvPr id="43" name="Shape 29"/>
          <p:cNvSpPr/>
          <p:nvPr/>
        </p:nvSpPr>
        <p:spPr>
          <a:xfrm>
            <a:off x="648310" y="4754903"/>
            <a:ext cx="11011205" cy="694944"/>
          </a:xfrm>
          <a:prstGeom prst="roundRect">
            <a:avLst>
              <a:gd name="adj" fmla="val 144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44" name="Text 30"/>
          <p:cNvSpPr txBox="1"/>
          <p:nvPr/>
        </p:nvSpPr>
        <p:spPr>
          <a:xfrm>
            <a:off x="952805" y="4988075"/>
            <a:ext cx="2362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Client Stratégique </a:t>
            </a:r>
            <a:endParaRPr lang="en-US" sz="1200" dirty="0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8505" y="5044768"/>
            <a:ext cx="114300" cy="114300"/>
          </a:xfrm>
          <a:prstGeom prst="rect">
            <a:avLst/>
          </a:prstGeom>
        </p:spPr>
      </p:pic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8"/>
          <a:srcRect l="-760" r="-760"/>
          <a:stretch/>
        </p:blipFill>
        <p:spPr>
          <a:xfrm>
            <a:off x="3409798" y="5013678"/>
            <a:ext cx="152705" cy="171907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52698" y="4897549"/>
            <a:ext cx="7715707" cy="409651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4162349" y="4897549"/>
            <a:ext cx="7306056" cy="409651"/>
          </a:xfrm>
          <a:prstGeom prst="rect">
            <a:avLst/>
          </a:prstGeom>
          <a:solidFill>
            <a:srgbClr val="FFFFFF">
              <a:alpha val="0"/>
            </a:srgbClr>
          </a:solidFill>
          <a:ln w="50800">
            <a:solidFill>
              <a:srgbClr val="E74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Validation Directeur </a:t>
            </a:r>
            <a:r>
              <a:rPr lang="en-US" sz="1300" b="1" dirty="0" err="1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d'Agence</a:t>
            </a:r>
            <a:r>
              <a:rPr lang="en-US" sz="13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300" dirty="0"/>
          </a:p>
        </p:txBody>
      </p:sp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16"/>
          <a:srcRect l="-760" r="-760"/>
          <a:stretch/>
        </p:blipFill>
        <p:spPr>
          <a:xfrm>
            <a:off x="3933749" y="5016421"/>
            <a:ext cx="152705" cy="171907"/>
          </a:xfrm>
          <a:prstGeom prst="rect">
            <a:avLst/>
          </a:prstGeom>
        </p:spPr>
      </p:pic>
      <p:sp>
        <p:nvSpPr>
          <p:cNvPr id="50" name="Shape 32"/>
          <p:cNvSpPr/>
          <p:nvPr/>
        </p:nvSpPr>
        <p:spPr>
          <a:xfrm>
            <a:off x="648310" y="5700634"/>
            <a:ext cx="11011205" cy="895198"/>
          </a:xfrm>
          <a:prstGeom prst="roundRect">
            <a:avLst>
              <a:gd name="adj" fmla="val 8693"/>
            </a:avLst>
          </a:prstGeom>
          <a:solidFill>
            <a:srgbClr val="0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50" r="-50"/>
          <a:stretch/>
        </p:blipFill>
        <p:spPr>
          <a:xfrm>
            <a:off x="933602" y="5995985"/>
            <a:ext cx="342900" cy="304495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1515161" y="5891743"/>
            <a:ext cx="99733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7C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 Clé</a:t>
            </a:r>
            <a:endParaRPr lang="en-US" sz="1000" dirty="0"/>
          </a:p>
        </p:txBody>
      </p:sp>
      <p:sp>
        <p:nvSpPr>
          <p:cNvPr id="53" name="Text 34"/>
          <p:cNvSpPr txBox="1"/>
          <p:nvPr/>
        </p:nvSpPr>
        <p:spPr>
          <a:xfrm>
            <a:off x="1515161" y="6139546"/>
            <a:ext cx="99733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L'humain n'est mobilisé que lorsqu'il crée de la valeur mesurable.</a:t>
            </a:r>
            <a:endParaRPr lang="en-US" sz="150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61B6D826-A387-79ED-C804-C9C1200F91E6}"/>
              </a:ext>
            </a:extLst>
          </p:cNvPr>
          <p:cNvGrpSpPr/>
          <p:nvPr/>
        </p:nvGrpSpPr>
        <p:grpSpPr>
          <a:xfrm>
            <a:off x="540410" y="-192303"/>
            <a:ext cx="4385073" cy="729585"/>
            <a:chOff x="540410" y="-192303"/>
            <a:chExt cx="4385073" cy="729585"/>
          </a:xfrm>
        </p:grpSpPr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CFA688D5-081C-2469-634A-0A69E4A5A330}"/>
                </a:ext>
              </a:extLst>
            </p:cNvPr>
            <p:cNvSpPr txBox="1"/>
            <p:nvPr/>
          </p:nvSpPr>
          <p:spPr>
            <a:xfrm>
              <a:off x="540410" y="209"/>
              <a:ext cx="232020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 err="1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Campaign</a:t>
              </a:r>
              <a:r>
                <a:rPr lang="en-US" sz="1800" b="1" dirty="0" err="1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Hub</a:t>
              </a:r>
              <a:r>
                <a:rPr lang="en-US" sz="1800" b="1" dirty="0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by</a:t>
              </a:r>
              <a:endParaRPr lang="en-US" sz="1800" dirty="0"/>
            </a:p>
          </p:txBody>
        </p:sp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B84CF333-D175-D18B-C971-56FE59958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17" y="-192303"/>
              <a:ext cx="2064866" cy="7295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564702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7" name="Shape 2">
            <a:extLst>
              <a:ext uri="{FF2B5EF4-FFF2-40B4-BE49-F238E27FC236}">
                <a16:creationId xmlns:a16="http://schemas.microsoft.com/office/drawing/2014/main" id="{7C4A4617-4E4A-0E16-FACB-D44BA0BAF042}"/>
              </a:ext>
            </a:extLst>
          </p:cNvPr>
          <p:cNvSpPr/>
          <p:nvPr/>
        </p:nvSpPr>
        <p:spPr>
          <a:xfrm>
            <a:off x="0" y="0"/>
            <a:ext cx="12191695" cy="4480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513" y="9144"/>
            <a:ext cx="466344" cy="3236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89513" y="9144"/>
            <a:ext cx="4672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02450" y="656332"/>
            <a:ext cx="1011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gestionnaires comme étapes conditionnelles du parcours</a:t>
            </a:r>
            <a:endParaRPr lang="fr-FR" sz="2400" noProof="0" dirty="0"/>
          </a:p>
        </p:txBody>
      </p:sp>
      <p:sp>
        <p:nvSpPr>
          <p:cNvPr id="11" name="Shape 8"/>
          <p:cNvSpPr/>
          <p:nvPr/>
        </p:nvSpPr>
        <p:spPr>
          <a:xfrm>
            <a:off x="648310" y="703880"/>
            <a:ext cx="57607" cy="362102"/>
          </a:xfrm>
          <a:prstGeom prst="roundRect">
            <a:avLst>
              <a:gd name="adj" fmla="val 793654"/>
            </a:avLst>
          </a:prstGeom>
          <a:solidFill>
            <a:srgbClr val="1F6A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2" name="Shape 9"/>
          <p:cNvSpPr/>
          <p:nvPr/>
        </p:nvSpPr>
        <p:spPr>
          <a:xfrm>
            <a:off x="648310" y="1170138"/>
            <a:ext cx="11011205" cy="141914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3" name="Shape 10"/>
          <p:cNvSpPr/>
          <p:nvPr/>
        </p:nvSpPr>
        <p:spPr>
          <a:xfrm>
            <a:off x="981151" y="1496579"/>
            <a:ext cx="761695" cy="761695"/>
          </a:xfrm>
          <a:prstGeom prst="ellipse">
            <a:avLst/>
          </a:prstGeom>
          <a:solidFill>
            <a:srgbClr val="F0F7FF"/>
          </a:solidFill>
          <a:ln w="25400">
            <a:solidFill>
              <a:srgbClr val="1F6AE1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27" r="-27"/>
          <a:stretch/>
        </p:blipFill>
        <p:spPr>
          <a:xfrm>
            <a:off x="1148486" y="1705977"/>
            <a:ext cx="428854" cy="3429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076602" y="1408797"/>
            <a:ext cx="93634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Intégration native des acteurs humains (DA / CC)</a:t>
            </a:r>
            <a:endParaRPr lang="en-US" sz="16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076602" y="1894343"/>
            <a:ext cx="171907" cy="17190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343607" y="1865997"/>
            <a:ext cx="277246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Déclenchement uniquement selon des </a:t>
            </a:r>
            <a:r>
              <a:rPr lang="en-US" sz="1300" b="1" dirty="0">
                <a:solidFill>
                  <a:srgbClr val="4755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critères définis</a:t>
            </a:r>
            <a:endParaRPr lang="en-US" sz="13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21224" y="1894343"/>
            <a:ext cx="171907" cy="17190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7314" y="1865997"/>
            <a:ext cx="277246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Actions </a:t>
            </a:r>
            <a:r>
              <a:rPr lang="en-US" sz="1300" b="1" dirty="0">
                <a:solidFill>
                  <a:srgbClr val="4755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priorisées automatiquement</a:t>
            </a:r>
            <a:r>
              <a:rPr lang="en-US" sz="1300" dirty="0">
                <a:solidFill>
                  <a:srgbClr val="4755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dans leur outil</a:t>
            </a:r>
            <a:endParaRPr lang="en-US" sz="13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64931" y="1894343"/>
            <a:ext cx="171907" cy="17190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631936" y="1865997"/>
            <a:ext cx="277246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Interventions entièrement </a:t>
            </a:r>
            <a:r>
              <a:rPr lang="en-US" sz="1300" b="1" dirty="0">
                <a:solidFill>
                  <a:srgbClr val="47556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traçables et mesurées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648310" y="2846453"/>
            <a:ext cx="11125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Bénéfices Opérationnels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48310" y="2818460"/>
            <a:ext cx="8033004" cy="9144"/>
          </a:xfrm>
          <a:prstGeom prst="rect">
            <a:avLst/>
          </a:prstGeom>
          <a:solidFill>
            <a:srgbClr val="D1D9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4" name="Shape 17"/>
          <p:cNvSpPr/>
          <p:nvPr/>
        </p:nvSpPr>
        <p:spPr>
          <a:xfrm>
            <a:off x="648310" y="3266516"/>
            <a:ext cx="3514954" cy="2057400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5" name="Shape 18"/>
          <p:cNvSpPr/>
          <p:nvPr/>
        </p:nvSpPr>
        <p:spPr>
          <a:xfrm>
            <a:off x="648310" y="3266516"/>
            <a:ext cx="3514954" cy="38405"/>
          </a:xfrm>
          <a:prstGeom prst="roundRect">
            <a:avLst>
              <a:gd name="adj" fmla="val 88183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6054" y="3613988"/>
            <a:ext cx="267005" cy="26700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86054" y="4084904"/>
            <a:ext cx="31528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 de surcharge réseau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886054" y="4437862"/>
            <a:ext cx="31153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 réseau n'est sollicité que pour les opportunités à forte valeur ajoutée, évitant la saturation par des tâches à faible rendement.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4395521" y="3266516"/>
            <a:ext cx="3514954" cy="2057400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0" name="Shape 22"/>
          <p:cNvSpPr/>
          <p:nvPr/>
        </p:nvSpPr>
        <p:spPr>
          <a:xfrm>
            <a:off x="4395521" y="3266516"/>
            <a:ext cx="3514954" cy="38405"/>
          </a:xfrm>
          <a:prstGeom prst="roundRect">
            <a:avLst>
              <a:gd name="adj" fmla="val 88183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33265" y="3613988"/>
            <a:ext cx="267005" cy="26700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633265" y="4084904"/>
            <a:ext cx="31528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Meilleure allocation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4633265" y="4437862"/>
            <a:ext cx="31153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Concentration de l'effort commercial sur les moments de vérité du parcours client où l'humain fait la différence.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8142732" y="3266516"/>
            <a:ext cx="3514954" cy="2057400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5" name="Shape 26"/>
          <p:cNvSpPr/>
          <p:nvPr/>
        </p:nvSpPr>
        <p:spPr>
          <a:xfrm>
            <a:off x="8142732" y="3266516"/>
            <a:ext cx="3514954" cy="38405"/>
          </a:xfrm>
          <a:prstGeom prst="roundRect">
            <a:avLst>
              <a:gd name="adj" fmla="val 88183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81390" y="3613988"/>
            <a:ext cx="333756" cy="26700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381390" y="4084904"/>
            <a:ext cx="31528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Responsabilisation</a:t>
            </a:r>
            <a:endParaRPr lang="en-US" sz="1300" dirty="0"/>
          </a:p>
        </p:txBody>
      </p:sp>
      <p:sp>
        <p:nvSpPr>
          <p:cNvPr id="38" name="Text 28"/>
          <p:cNvSpPr txBox="1"/>
          <p:nvPr/>
        </p:nvSpPr>
        <p:spPr>
          <a:xfrm>
            <a:off x="8381390" y="4437862"/>
            <a:ext cx="31153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Implication des acteurs terrain sans rigidité procédurale, favorisant l'autonomie et la réactivité commerciale.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648310" y="5601893"/>
            <a:ext cx="11011205" cy="895198"/>
          </a:xfrm>
          <a:prstGeom prst="roundRect">
            <a:avLst>
              <a:gd name="adj" fmla="val 8693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0" name="Shape 30"/>
          <p:cNvSpPr/>
          <p:nvPr/>
        </p:nvSpPr>
        <p:spPr>
          <a:xfrm>
            <a:off x="648310" y="5601893"/>
            <a:ext cx="57607" cy="895198"/>
          </a:xfrm>
          <a:prstGeom prst="roundRect">
            <a:avLst>
              <a:gd name="adj" fmla="val 135090"/>
            </a:avLst>
          </a:prstGeom>
          <a:solidFill>
            <a:srgbClr val="27C7FF"/>
          </a:solidFill>
          <a:ln w="12700">
            <a:solidFill>
              <a:srgbClr val="27C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9"/>
          <a:srcRect l="-50" r="-50"/>
          <a:stretch/>
        </p:blipFill>
        <p:spPr>
          <a:xfrm>
            <a:off x="991210" y="5897244"/>
            <a:ext cx="342900" cy="304495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1571854" y="5792088"/>
            <a:ext cx="99157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7C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 Clé</a:t>
            </a:r>
            <a:endParaRPr lang="en-US" sz="1000" dirty="0"/>
          </a:p>
        </p:txBody>
      </p:sp>
      <p:sp>
        <p:nvSpPr>
          <p:cNvPr id="43" name="Text 32"/>
          <p:cNvSpPr txBox="1"/>
          <p:nvPr/>
        </p:nvSpPr>
        <p:spPr>
          <a:xfrm>
            <a:off x="1571854" y="6039891"/>
            <a:ext cx="9915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CampaignHub n'impose aucun modèle organisationnel à la banque.</a:t>
            </a:r>
            <a:endParaRPr lang="en-US" sz="150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4626ED07-FA9C-17DD-D7CC-94AC0661CE24}"/>
              </a:ext>
            </a:extLst>
          </p:cNvPr>
          <p:cNvGrpSpPr/>
          <p:nvPr/>
        </p:nvGrpSpPr>
        <p:grpSpPr>
          <a:xfrm>
            <a:off x="540410" y="-192303"/>
            <a:ext cx="4385073" cy="729585"/>
            <a:chOff x="540410" y="-192303"/>
            <a:chExt cx="4385073" cy="729585"/>
          </a:xfrm>
        </p:grpSpPr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A2E2B891-1BDA-64D4-3BCF-FF0DDCC60CBC}"/>
                </a:ext>
              </a:extLst>
            </p:cNvPr>
            <p:cNvSpPr txBox="1"/>
            <p:nvPr/>
          </p:nvSpPr>
          <p:spPr>
            <a:xfrm>
              <a:off x="540410" y="209"/>
              <a:ext cx="232020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 err="1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Campaign</a:t>
              </a:r>
              <a:r>
                <a:rPr lang="en-US" sz="1800" b="1" dirty="0" err="1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Hub</a:t>
              </a:r>
              <a:r>
                <a:rPr lang="en-US" sz="1800" b="1" dirty="0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by</a:t>
              </a:r>
              <a:endParaRPr lang="en-US" sz="1800" dirty="0"/>
            </a:p>
          </p:txBody>
        </p:sp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id="{58F5690C-9068-D185-CD13-DF4793895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17" y="-192303"/>
              <a:ext cx="2064866" cy="7295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571919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7" name="Shape 2">
            <a:extLst>
              <a:ext uri="{FF2B5EF4-FFF2-40B4-BE49-F238E27FC236}">
                <a16:creationId xmlns:a16="http://schemas.microsoft.com/office/drawing/2014/main" id="{AD87CE3F-5AD2-8F4A-BB0C-BB5AE9F77F86}"/>
              </a:ext>
            </a:extLst>
          </p:cNvPr>
          <p:cNvSpPr/>
          <p:nvPr/>
        </p:nvSpPr>
        <p:spPr>
          <a:xfrm>
            <a:off x="0" y="0"/>
            <a:ext cx="12191695" cy="4480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513" y="9144"/>
            <a:ext cx="466344" cy="3236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89513" y="9144"/>
            <a:ext cx="4672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5015" y="488034"/>
            <a:ext cx="91154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Piloter la performance pendant la campagne, pas après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48310" y="535582"/>
            <a:ext cx="57607" cy="362102"/>
          </a:xfrm>
          <a:prstGeom prst="roundRect">
            <a:avLst>
              <a:gd name="adj" fmla="val 793654"/>
            </a:avLst>
          </a:prstGeom>
          <a:solidFill>
            <a:srgbClr val="1F6A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2" name="Shape 9"/>
          <p:cNvSpPr/>
          <p:nvPr/>
        </p:nvSpPr>
        <p:spPr>
          <a:xfrm>
            <a:off x="648310" y="1101130"/>
            <a:ext cx="3514954" cy="857707"/>
          </a:xfrm>
          <a:prstGeom prst="roundRect">
            <a:avLst>
              <a:gd name="adj" fmla="val 947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3" name="Shape 10"/>
          <p:cNvSpPr/>
          <p:nvPr/>
        </p:nvSpPr>
        <p:spPr>
          <a:xfrm>
            <a:off x="648310" y="1101130"/>
            <a:ext cx="38405" cy="857707"/>
          </a:xfrm>
          <a:prstGeom prst="roundRect">
            <a:avLst>
              <a:gd name="adj" fmla="val 211639"/>
            </a:avLst>
          </a:prstGeom>
          <a:solidFill>
            <a:srgbClr val="1F6AE1"/>
          </a:solidFill>
          <a:ln w="12700">
            <a:solidFill>
              <a:srgbClr val="1F6A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4" name="Shape 11"/>
          <p:cNvSpPr/>
          <p:nvPr/>
        </p:nvSpPr>
        <p:spPr>
          <a:xfrm>
            <a:off x="876910" y="1292240"/>
            <a:ext cx="476402" cy="476402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354" y="1415684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95958" y="1312357"/>
            <a:ext cx="2267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Objectifs Intermédiaires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495958" y="1548272"/>
            <a:ext cx="2267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Simulations, RDV, interactions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395521" y="1101130"/>
            <a:ext cx="3514954" cy="857707"/>
          </a:xfrm>
          <a:prstGeom prst="roundRect">
            <a:avLst>
              <a:gd name="adj" fmla="val 947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9" name="Shape 15"/>
          <p:cNvSpPr/>
          <p:nvPr/>
        </p:nvSpPr>
        <p:spPr>
          <a:xfrm>
            <a:off x="4395521" y="1101130"/>
            <a:ext cx="38405" cy="857707"/>
          </a:xfrm>
          <a:prstGeom prst="roundRect">
            <a:avLst>
              <a:gd name="adj" fmla="val 211639"/>
            </a:avLst>
          </a:prstGeom>
          <a:solidFill>
            <a:srgbClr val="1F6AE1"/>
          </a:solidFill>
          <a:ln w="12700">
            <a:solidFill>
              <a:srgbClr val="1F6A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0" name="Shape 16"/>
          <p:cNvSpPr/>
          <p:nvPr/>
        </p:nvSpPr>
        <p:spPr>
          <a:xfrm>
            <a:off x="4624121" y="1292240"/>
            <a:ext cx="476402" cy="476402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47565" y="1415684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243170" y="1312357"/>
            <a:ext cx="1867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Micro-conversions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243170" y="1548272"/>
            <a:ext cx="213146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Tracking par étape du parcours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142732" y="1101130"/>
            <a:ext cx="3514954" cy="857707"/>
          </a:xfrm>
          <a:prstGeom prst="roundRect">
            <a:avLst>
              <a:gd name="adj" fmla="val 947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5" name="Shape 20"/>
          <p:cNvSpPr/>
          <p:nvPr/>
        </p:nvSpPr>
        <p:spPr>
          <a:xfrm>
            <a:off x="8142732" y="1101130"/>
            <a:ext cx="38405" cy="857707"/>
          </a:xfrm>
          <a:prstGeom prst="roundRect">
            <a:avLst>
              <a:gd name="adj" fmla="val 211639"/>
            </a:avLst>
          </a:prstGeom>
          <a:solidFill>
            <a:srgbClr val="1F6AE1"/>
          </a:solidFill>
          <a:ln w="12700">
            <a:solidFill>
              <a:srgbClr val="1F6A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6" name="Shape 21"/>
          <p:cNvSpPr/>
          <p:nvPr/>
        </p:nvSpPr>
        <p:spPr>
          <a:xfrm>
            <a:off x="8371332" y="1292240"/>
            <a:ext cx="476402" cy="476402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8466430" y="1415684"/>
            <a:ext cx="286207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990381" y="1312357"/>
            <a:ext cx="186354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Actions Correctives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990381" y="1548272"/>
            <a:ext cx="196870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Déclenchement automatique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48310" y="2150364"/>
            <a:ext cx="11011205" cy="1333195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-36" r="-36"/>
          <a:stretch/>
        </p:blipFill>
        <p:spPr>
          <a:xfrm>
            <a:off x="790956" y="2293011"/>
            <a:ext cx="10724998" cy="104790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48310" y="3790314"/>
            <a:ext cx="11125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Exemples d'Actions Correctives Automatisées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648310" y="3721304"/>
            <a:ext cx="5692140" cy="9144"/>
          </a:xfrm>
          <a:prstGeom prst="rect">
            <a:avLst/>
          </a:prstGeom>
          <a:solidFill>
            <a:srgbClr val="D1D9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4" name="Shape 27"/>
          <p:cNvSpPr/>
          <p:nvPr/>
        </p:nvSpPr>
        <p:spPr>
          <a:xfrm>
            <a:off x="648310" y="4238370"/>
            <a:ext cx="3514954" cy="1152144"/>
          </a:xfrm>
          <a:prstGeom prst="roundRect">
            <a:avLst>
              <a:gd name="adj" fmla="val 52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5" name="Shape 28"/>
          <p:cNvSpPr/>
          <p:nvPr/>
        </p:nvSpPr>
        <p:spPr>
          <a:xfrm>
            <a:off x="648310" y="4238370"/>
            <a:ext cx="3509467" cy="38405"/>
          </a:xfrm>
          <a:prstGeom prst="rect">
            <a:avLst/>
          </a:prstGeom>
          <a:solidFill>
            <a:srgbClr val="1F6A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8505" y="4447767"/>
            <a:ext cx="190195" cy="19019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123798" y="4428565"/>
            <a:ext cx="17620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Renforcer un canal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838505" y="4800726"/>
            <a:ext cx="32104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 email &lt; 15% ouverture → bascule automatique vers push app ou SMS.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4395521" y="4238370"/>
            <a:ext cx="3514954" cy="1152144"/>
          </a:xfrm>
          <a:prstGeom prst="roundRect">
            <a:avLst>
              <a:gd name="adj" fmla="val 52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40" name="Shape 32"/>
          <p:cNvSpPr/>
          <p:nvPr/>
        </p:nvSpPr>
        <p:spPr>
          <a:xfrm>
            <a:off x="4395521" y="4238370"/>
            <a:ext cx="3509467" cy="38405"/>
          </a:xfrm>
          <a:prstGeom prst="rect">
            <a:avLst/>
          </a:prstGeom>
          <a:solidFill>
            <a:srgbClr val="27C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85716" y="4447767"/>
            <a:ext cx="237744" cy="19019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4919472" y="442856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Relance humaine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4585716" y="4800726"/>
            <a:ext cx="32104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 abandon simulation &gt; 5000 MAD → alerte immédiate CC pour appel sortant.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8142732" y="4238370"/>
            <a:ext cx="3514954" cy="1152144"/>
          </a:xfrm>
          <a:prstGeom prst="roundRect">
            <a:avLst>
              <a:gd name="adj" fmla="val 52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45" name="Shape 36"/>
          <p:cNvSpPr/>
          <p:nvPr/>
        </p:nvSpPr>
        <p:spPr>
          <a:xfrm>
            <a:off x="8142732" y="4238370"/>
            <a:ext cx="3509467" cy="38405"/>
          </a:xfrm>
          <a:prstGeom prst="rect">
            <a:avLst/>
          </a:prstGeom>
          <a:solidFill>
            <a:srgbClr val="0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332927" y="4447767"/>
            <a:ext cx="190195" cy="190195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8619134" y="4428565"/>
            <a:ext cx="1281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Ajuster l'offre</a:t>
            </a:r>
            <a:endParaRPr lang="en-US" sz="1200" dirty="0"/>
          </a:p>
        </p:txBody>
      </p:sp>
      <p:sp>
        <p:nvSpPr>
          <p:cNvPr id="48" name="Text 38"/>
          <p:cNvSpPr txBox="1"/>
          <p:nvPr/>
        </p:nvSpPr>
        <p:spPr>
          <a:xfrm>
            <a:off x="8332927" y="4800726"/>
            <a:ext cx="32104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 taux clic faible sur offre A → test automatique variante B sur segment restant.</a:t>
            </a:r>
            <a:endParaRPr lang="en-US" sz="1100" dirty="0"/>
          </a:p>
        </p:txBody>
      </p:sp>
      <p:sp>
        <p:nvSpPr>
          <p:cNvPr id="49" name="Shape 39"/>
          <p:cNvSpPr/>
          <p:nvPr/>
        </p:nvSpPr>
        <p:spPr>
          <a:xfrm>
            <a:off x="648310" y="5676721"/>
            <a:ext cx="11011205" cy="895198"/>
          </a:xfrm>
          <a:prstGeom prst="roundRect">
            <a:avLst>
              <a:gd name="adj" fmla="val 8693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0" name="Shape 40"/>
          <p:cNvSpPr/>
          <p:nvPr/>
        </p:nvSpPr>
        <p:spPr>
          <a:xfrm>
            <a:off x="648310" y="5676721"/>
            <a:ext cx="57607" cy="895198"/>
          </a:xfrm>
          <a:prstGeom prst="roundRect">
            <a:avLst>
              <a:gd name="adj" fmla="val 135090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91210" y="5972072"/>
            <a:ext cx="304495" cy="304495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1533449" y="5866916"/>
            <a:ext cx="99541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ECC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 Clé</a:t>
            </a:r>
            <a:endParaRPr lang="en-US" sz="1000" dirty="0"/>
          </a:p>
        </p:txBody>
      </p:sp>
      <p:sp>
        <p:nvSpPr>
          <p:cNvPr id="53" name="Text 42"/>
          <p:cNvSpPr txBox="1"/>
          <p:nvPr/>
        </p:nvSpPr>
        <p:spPr>
          <a:xfrm>
            <a:off x="1533449" y="6114718"/>
            <a:ext cx="9954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banque reprend le contrôle de la performance en temps réel.</a:t>
            </a:r>
            <a:endParaRPr lang="en-US" sz="150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68082D83-DB2B-E93A-F272-BB9C5F1CCC5A}"/>
              </a:ext>
            </a:extLst>
          </p:cNvPr>
          <p:cNvGrpSpPr/>
          <p:nvPr/>
        </p:nvGrpSpPr>
        <p:grpSpPr>
          <a:xfrm>
            <a:off x="540410" y="-192303"/>
            <a:ext cx="4385073" cy="729585"/>
            <a:chOff x="540410" y="-192303"/>
            <a:chExt cx="4385073" cy="729585"/>
          </a:xfrm>
        </p:grpSpPr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1AD1A110-9BAC-5EA9-05B5-411044D8DE98}"/>
                </a:ext>
              </a:extLst>
            </p:cNvPr>
            <p:cNvSpPr txBox="1"/>
            <p:nvPr/>
          </p:nvSpPr>
          <p:spPr>
            <a:xfrm>
              <a:off x="540410" y="209"/>
              <a:ext cx="232020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 err="1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Campaign</a:t>
              </a:r>
              <a:r>
                <a:rPr lang="en-US" sz="1800" b="1" dirty="0" err="1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Hub</a:t>
              </a:r>
              <a:r>
                <a:rPr lang="en-US" sz="1800" b="1" dirty="0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by</a:t>
              </a:r>
              <a:endParaRPr lang="en-US" sz="1800" dirty="0"/>
            </a:p>
          </p:txBody>
        </p:sp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1675F65B-E05E-E3FC-2CEF-12972C596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17" y="-192303"/>
              <a:ext cx="2064866" cy="7295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547449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7" name="Shape 2">
            <a:extLst>
              <a:ext uri="{FF2B5EF4-FFF2-40B4-BE49-F238E27FC236}">
                <a16:creationId xmlns:a16="http://schemas.microsoft.com/office/drawing/2014/main" id="{ABB9D2F2-3F9F-AA28-AD0D-33AF43E989DC}"/>
              </a:ext>
            </a:extLst>
          </p:cNvPr>
          <p:cNvSpPr/>
          <p:nvPr/>
        </p:nvSpPr>
        <p:spPr>
          <a:xfrm>
            <a:off x="0" y="0"/>
            <a:ext cx="12191695" cy="4480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513" y="9144"/>
            <a:ext cx="466344" cy="3236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89513" y="9144"/>
            <a:ext cx="4672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83789" y="470782"/>
            <a:ext cx="1011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concret pour la banque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48310" y="518330"/>
            <a:ext cx="57607" cy="362102"/>
          </a:xfrm>
          <a:prstGeom prst="roundRect">
            <a:avLst>
              <a:gd name="adj" fmla="val 793654"/>
            </a:avLst>
          </a:prstGeom>
          <a:solidFill>
            <a:srgbClr val="1F6A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2" name="Shape 9"/>
          <p:cNvSpPr/>
          <p:nvPr/>
        </p:nvSpPr>
        <p:spPr>
          <a:xfrm>
            <a:off x="648310" y="1066626"/>
            <a:ext cx="3514954" cy="1739189"/>
          </a:xfrm>
          <a:prstGeom prst="roundRect">
            <a:avLst>
              <a:gd name="adj" fmla="val 151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3" name="Shape 10"/>
          <p:cNvSpPr/>
          <p:nvPr/>
        </p:nvSpPr>
        <p:spPr>
          <a:xfrm>
            <a:off x="648310" y="1066626"/>
            <a:ext cx="3514954" cy="38405"/>
          </a:xfrm>
          <a:prstGeom prst="roundRect">
            <a:avLst>
              <a:gd name="adj" fmla="val 84656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4" name="Shape 11"/>
          <p:cNvSpPr/>
          <p:nvPr/>
        </p:nvSpPr>
        <p:spPr>
          <a:xfrm>
            <a:off x="838505" y="1195777"/>
            <a:ext cx="381305" cy="381305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2805" y="1310077"/>
            <a:ext cx="152705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62456" y="1286302"/>
            <a:ext cx="14767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Transformation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838505" y="1646156"/>
            <a:ext cx="33247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CC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+20 à +30 %</a:t>
            </a:r>
            <a:endParaRPr lang="en-US" sz="2700" dirty="0"/>
          </a:p>
        </p:txBody>
      </p:sp>
      <p:sp>
        <p:nvSpPr>
          <p:cNvPr id="18" name="Text 14"/>
          <p:cNvSpPr txBox="1"/>
          <p:nvPr/>
        </p:nvSpPr>
        <p:spPr>
          <a:xfrm>
            <a:off x="838505" y="2199125"/>
            <a:ext cx="32104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Augmentation du taux de transformation global des campagnes.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395521" y="1066626"/>
            <a:ext cx="3514954" cy="1739189"/>
          </a:xfrm>
          <a:prstGeom prst="roundRect">
            <a:avLst>
              <a:gd name="adj" fmla="val 151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0" name="Shape 16"/>
          <p:cNvSpPr/>
          <p:nvPr/>
        </p:nvSpPr>
        <p:spPr>
          <a:xfrm>
            <a:off x="4395521" y="1066626"/>
            <a:ext cx="3514954" cy="38405"/>
          </a:xfrm>
          <a:prstGeom prst="roundRect">
            <a:avLst>
              <a:gd name="adj" fmla="val 84656"/>
            </a:avLst>
          </a:prstGeom>
          <a:solidFill>
            <a:srgbClr val="27C7FF"/>
          </a:solidFill>
          <a:ln w="12700">
            <a:solidFill>
              <a:srgbClr val="27C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1" name="Shape 17"/>
          <p:cNvSpPr/>
          <p:nvPr/>
        </p:nvSpPr>
        <p:spPr>
          <a:xfrm>
            <a:off x="4585716" y="1195777"/>
            <a:ext cx="381305" cy="381305"/>
          </a:xfrm>
          <a:prstGeom prst="ellipse">
            <a:avLst/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0016" y="1310077"/>
            <a:ext cx="152705" cy="15270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109667" y="1286302"/>
            <a:ext cx="14676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Efficacité Coûts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585716" y="1646156"/>
            <a:ext cx="33247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7C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-25 à -35 %</a:t>
            </a:r>
            <a:endParaRPr lang="en-US" sz="2700" dirty="0"/>
          </a:p>
        </p:txBody>
      </p:sp>
      <p:sp>
        <p:nvSpPr>
          <p:cNvPr id="25" name="Text 20"/>
          <p:cNvSpPr txBox="1"/>
          <p:nvPr/>
        </p:nvSpPr>
        <p:spPr>
          <a:xfrm>
            <a:off x="4585716" y="2199125"/>
            <a:ext cx="32104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Réduction des coûts de contact non pertinents (SMS/Appels inutiles).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142732" y="1066626"/>
            <a:ext cx="3514954" cy="1739189"/>
          </a:xfrm>
          <a:prstGeom prst="roundRect">
            <a:avLst>
              <a:gd name="adj" fmla="val 151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7" name="Shape 22"/>
          <p:cNvSpPr/>
          <p:nvPr/>
        </p:nvSpPr>
        <p:spPr>
          <a:xfrm>
            <a:off x="8142732" y="1066626"/>
            <a:ext cx="3514954" cy="38405"/>
          </a:xfrm>
          <a:prstGeom prst="roundRect">
            <a:avLst>
              <a:gd name="adj" fmla="val 84656"/>
            </a:avLst>
          </a:prstGeom>
          <a:solidFill>
            <a:srgbClr val="1F6AE1"/>
          </a:solidFill>
          <a:ln w="12700">
            <a:solidFill>
              <a:srgbClr val="1F6A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8" name="Shape 23"/>
          <p:cNvSpPr/>
          <p:nvPr/>
        </p:nvSpPr>
        <p:spPr>
          <a:xfrm>
            <a:off x="8332927" y="1195777"/>
            <a:ext cx="381305" cy="381305"/>
          </a:xfrm>
          <a:prstGeom prst="ellipse">
            <a:avLst/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47227" y="1310077"/>
            <a:ext cx="152705" cy="15270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856878" y="1286302"/>
            <a:ext cx="648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Agilité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8264658" y="1653182"/>
            <a:ext cx="3514953" cy="47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6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Jours vs Semaines</a:t>
            </a:r>
            <a:endParaRPr lang="en-US" sz="2700" dirty="0"/>
          </a:p>
        </p:txBody>
      </p:sp>
      <p:sp>
        <p:nvSpPr>
          <p:cNvPr id="32" name="Text 26"/>
          <p:cNvSpPr txBox="1"/>
          <p:nvPr/>
        </p:nvSpPr>
        <p:spPr>
          <a:xfrm>
            <a:off x="8332927" y="2199125"/>
            <a:ext cx="32104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Time-to-market drastiquement réduit pour lancer ou ajuster un parcours.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1748333" y="2988694"/>
            <a:ext cx="4286707" cy="1540178"/>
          </a:xfrm>
          <a:prstGeom prst="roundRect">
            <a:avLst>
              <a:gd name="adj" fmla="val 221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4" name="Shape 28"/>
          <p:cNvSpPr/>
          <p:nvPr/>
        </p:nvSpPr>
        <p:spPr>
          <a:xfrm>
            <a:off x="1748333" y="2988693"/>
            <a:ext cx="4286707" cy="38405"/>
          </a:xfrm>
          <a:prstGeom prst="roundRect">
            <a:avLst>
              <a:gd name="adj" fmla="val 102406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5" name="Shape 29"/>
          <p:cNvSpPr/>
          <p:nvPr/>
        </p:nvSpPr>
        <p:spPr>
          <a:xfrm>
            <a:off x="1938528" y="3087900"/>
            <a:ext cx="381305" cy="381305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033626" y="3202200"/>
            <a:ext cx="190195" cy="15270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2462479" y="3178426"/>
            <a:ext cx="1810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Productivité Réseau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1938528" y="3516960"/>
            <a:ext cx="40965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CC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Optimisation</a:t>
            </a:r>
            <a:endParaRPr lang="en-US" sz="2700" dirty="0"/>
          </a:p>
        </p:txBody>
      </p:sp>
      <p:sp>
        <p:nvSpPr>
          <p:cNvPr id="39" name="Text 32"/>
          <p:cNvSpPr txBox="1"/>
          <p:nvPr/>
        </p:nvSpPr>
        <p:spPr>
          <a:xfrm>
            <a:off x="1938528" y="3942156"/>
            <a:ext cx="39822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Meilleure exploitation du réseau commercial sans augmentation des effectifs.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6269126" y="2988694"/>
            <a:ext cx="4286707" cy="1540178"/>
          </a:xfrm>
          <a:prstGeom prst="roundRect">
            <a:avLst>
              <a:gd name="adj" fmla="val 221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41" name="Shape 34"/>
          <p:cNvSpPr/>
          <p:nvPr/>
        </p:nvSpPr>
        <p:spPr>
          <a:xfrm>
            <a:off x="6269126" y="2988693"/>
            <a:ext cx="4286707" cy="38405"/>
          </a:xfrm>
          <a:prstGeom prst="roundRect">
            <a:avLst>
              <a:gd name="adj" fmla="val 102406"/>
            </a:avLst>
          </a:prstGeom>
          <a:solidFill>
            <a:srgbClr val="1F6AE1"/>
          </a:solidFill>
          <a:ln w="12700">
            <a:solidFill>
              <a:srgbClr val="1F6A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2" name="Shape 35"/>
          <p:cNvSpPr/>
          <p:nvPr/>
        </p:nvSpPr>
        <p:spPr>
          <a:xfrm>
            <a:off x="6459322" y="3087900"/>
            <a:ext cx="381305" cy="381305"/>
          </a:xfrm>
          <a:prstGeom prst="ellipse">
            <a:avLst/>
          </a:prstGeom>
          <a:solidFill>
            <a:srgbClr val="E3F2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564478" y="3202200"/>
            <a:ext cx="171907" cy="152705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6983273" y="3178426"/>
            <a:ext cx="8961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Visibilité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6459322" y="3516960"/>
            <a:ext cx="40965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6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ROI Clair</a:t>
            </a:r>
            <a:endParaRPr lang="en-US" sz="2700" dirty="0"/>
          </a:p>
        </p:txBody>
      </p:sp>
      <p:sp>
        <p:nvSpPr>
          <p:cNvPr id="46" name="Text 38"/>
          <p:cNvSpPr txBox="1"/>
          <p:nvPr/>
        </p:nvSpPr>
        <p:spPr>
          <a:xfrm>
            <a:off x="6459322" y="3942156"/>
            <a:ext cx="39822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Vision précise de la rentabilité par campagne et par parcours client.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648310" y="5216562"/>
            <a:ext cx="11011205" cy="895198"/>
          </a:xfrm>
          <a:prstGeom prst="roundRect">
            <a:avLst>
              <a:gd name="adj" fmla="val 8693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8" name="Shape 40"/>
          <p:cNvSpPr/>
          <p:nvPr/>
        </p:nvSpPr>
        <p:spPr>
          <a:xfrm>
            <a:off x="648310" y="5216562"/>
            <a:ext cx="57607" cy="895198"/>
          </a:xfrm>
          <a:prstGeom prst="roundRect">
            <a:avLst>
              <a:gd name="adj" fmla="val 135090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rcRect l="-107" r="-107"/>
          <a:stretch/>
        </p:blipFill>
        <p:spPr>
          <a:xfrm>
            <a:off x="991210" y="5511913"/>
            <a:ext cx="267005" cy="30449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1495958" y="5406757"/>
            <a:ext cx="99925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ECC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 Clé</a:t>
            </a:r>
            <a:endParaRPr lang="en-US" sz="1000" dirty="0"/>
          </a:p>
        </p:txBody>
      </p:sp>
      <p:sp>
        <p:nvSpPr>
          <p:cNvPr id="51" name="Text 42"/>
          <p:cNvSpPr txBox="1"/>
          <p:nvPr/>
        </p:nvSpPr>
        <p:spPr>
          <a:xfrm>
            <a:off x="1495958" y="5654560"/>
            <a:ext cx="9992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action est mesurée, justifiée et optimisée.</a:t>
            </a:r>
            <a:endParaRPr lang="en-US" sz="1500" dirty="0"/>
          </a:p>
        </p:txBody>
      </p: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9FEDC3D0-A021-6FE7-4D90-F0D236FDD977}"/>
              </a:ext>
            </a:extLst>
          </p:cNvPr>
          <p:cNvGrpSpPr/>
          <p:nvPr/>
        </p:nvGrpSpPr>
        <p:grpSpPr>
          <a:xfrm>
            <a:off x="540410" y="-192303"/>
            <a:ext cx="4385073" cy="729585"/>
            <a:chOff x="540410" y="-192303"/>
            <a:chExt cx="4385073" cy="729585"/>
          </a:xfrm>
        </p:grpSpPr>
        <p:sp>
          <p:nvSpPr>
            <p:cNvPr id="55" name="Text 4">
              <a:extLst>
                <a:ext uri="{FF2B5EF4-FFF2-40B4-BE49-F238E27FC236}">
                  <a16:creationId xmlns:a16="http://schemas.microsoft.com/office/drawing/2014/main" id="{DDEE7A51-99E9-3AB0-5A1B-A0A7F6EA4FAC}"/>
                </a:ext>
              </a:extLst>
            </p:cNvPr>
            <p:cNvSpPr txBox="1"/>
            <p:nvPr/>
          </p:nvSpPr>
          <p:spPr>
            <a:xfrm>
              <a:off x="540410" y="209"/>
              <a:ext cx="232020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 err="1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Campaign</a:t>
              </a:r>
              <a:r>
                <a:rPr lang="en-US" sz="1800" b="1" dirty="0" err="1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Hub</a:t>
              </a:r>
              <a:r>
                <a:rPr lang="en-US" sz="1800" b="1" dirty="0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by</a:t>
              </a:r>
              <a:endParaRPr lang="en-US" sz="1800" dirty="0"/>
            </a:p>
          </p:txBody>
        </p:sp>
        <p:pic>
          <p:nvPicPr>
            <p:cNvPr id="56" name="Image 55">
              <a:extLst>
                <a:ext uri="{FF2B5EF4-FFF2-40B4-BE49-F238E27FC236}">
                  <a16:creationId xmlns:a16="http://schemas.microsoft.com/office/drawing/2014/main" id="{C4A55F93-462D-34D2-24A1-DBA5F885C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17" y="-192303"/>
              <a:ext cx="2064866" cy="7295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469811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513" y="9144"/>
            <a:ext cx="466344" cy="32369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54842" y="712318"/>
            <a:ext cx="66222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solution maîtrisée, non intrusive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48310" y="759866"/>
            <a:ext cx="57607" cy="362102"/>
          </a:xfrm>
          <a:prstGeom prst="roundRect">
            <a:avLst>
              <a:gd name="adj" fmla="val 793654"/>
            </a:avLst>
          </a:prstGeom>
          <a:solidFill>
            <a:srgbClr val="1F6A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2" name="Shape 9"/>
          <p:cNvSpPr/>
          <p:nvPr/>
        </p:nvSpPr>
        <p:spPr>
          <a:xfrm>
            <a:off x="648310" y="1454810"/>
            <a:ext cx="6381598" cy="790956"/>
          </a:xfrm>
          <a:prstGeom prst="roundRect">
            <a:avLst>
              <a:gd name="adj" fmla="val 1114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3" name="Shape 10"/>
          <p:cNvSpPr/>
          <p:nvPr/>
        </p:nvSpPr>
        <p:spPr>
          <a:xfrm>
            <a:off x="648310" y="1454810"/>
            <a:ext cx="47549" cy="790956"/>
          </a:xfrm>
          <a:prstGeom prst="roundRect">
            <a:avLst>
              <a:gd name="adj" fmla="val 185356"/>
            </a:avLst>
          </a:prstGeom>
          <a:solidFill>
            <a:srgbClr val="D1D9E6"/>
          </a:solidFill>
          <a:ln w="12700">
            <a:solidFill>
              <a:srgbClr val="D1D9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4" name="Shape 11"/>
          <p:cNvSpPr/>
          <p:nvPr/>
        </p:nvSpPr>
        <p:spPr>
          <a:xfrm>
            <a:off x="933602" y="1611173"/>
            <a:ext cx="476402" cy="476402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1086307" y="1735531"/>
            <a:ext cx="171907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47749" y="1598371"/>
            <a:ext cx="5257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Intégration API &amp; Événements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647749" y="1902866"/>
            <a:ext cx="5257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Architecture moderne, connectée sans friction.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8310" y="2434133"/>
            <a:ext cx="6381598" cy="790956"/>
          </a:xfrm>
          <a:prstGeom prst="roundRect">
            <a:avLst>
              <a:gd name="adj" fmla="val 1114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9" name="Shape 15"/>
          <p:cNvSpPr/>
          <p:nvPr/>
        </p:nvSpPr>
        <p:spPr>
          <a:xfrm>
            <a:off x="648310" y="2434133"/>
            <a:ext cx="47549" cy="790956"/>
          </a:xfrm>
          <a:prstGeom prst="roundRect">
            <a:avLst>
              <a:gd name="adj" fmla="val 185356"/>
            </a:avLst>
          </a:prstGeom>
          <a:solidFill>
            <a:srgbClr val="D1D9E6"/>
          </a:solidFill>
          <a:ln w="12700">
            <a:solidFill>
              <a:srgbClr val="D1D9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0" name="Shape 16"/>
          <p:cNvSpPr/>
          <p:nvPr/>
        </p:nvSpPr>
        <p:spPr>
          <a:xfrm>
            <a:off x="933602" y="2590495"/>
            <a:ext cx="476402" cy="476402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1071677" y="2713939"/>
            <a:ext cx="200254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647749" y="2577694"/>
            <a:ext cx="5257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Données sous contrôle banque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647749" y="2882189"/>
            <a:ext cx="5829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Souveraineté totale des données clients (on-premise ou cloud privé).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48310" y="3413455"/>
            <a:ext cx="6381598" cy="790956"/>
          </a:xfrm>
          <a:prstGeom prst="roundRect">
            <a:avLst>
              <a:gd name="adj" fmla="val 1114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5" name="Shape 20"/>
          <p:cNvSpPr/>
          <p:nvPr/>
        </p:nvSpPr>
        <p:spPr>
          <a:xfrm>
            <a:off x="648310" y="3413455"/>
            <a:ext cx="47549" cy="790956"/>
          </a:xfrm>
          <a:prstGeom prst="roundRect">
            <a:avLst>
              <a:gd name="adj" fmla="val 185356"/>
            </a:avLst>
          </a:prstGeom>
          <a:solidFill>
            <a:srgbClr val="D1D9E6"/>
          </a:solidFill>
          <a:ln w="12700">
            <a:solidFill>
              <a:srgbClr val="D1D9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6" name="Shape 21"/>
          <p:cNvSpPr/>
          <p:nvPr/>
        </p:nvSpPr>
        <p:spPr>
          <a:xfrm>
            <a:off x="933602" y="3569818"/>
            <a:ext cx="476402" cy="476402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1043330" y="3693262"/>
            <a:ext cx="256946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47749" y="3556102"/>
            <a:ext cx="5257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Aucune substitution Core Banking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647749" y="3861511"/>
            <a:ext cx="5257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Couche d'orchestration agile, respectant l'héritage IT.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48310" y="4392778"/>
            <a:ext cx="6381598" cy="790956"/>
          </a:xfrm>
          <a:prstGeom prst="roundRect">
            <a:avLst>
              <a:gd name="adj" fmla="val 1114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1" name="Shape 25"/>
          <p:cNvSpPr/>
          <p:nvPr/>
        </p:nvSpPr>
        <p:spPr>
          <a:xfrm>
            <a:off x="648310" y="4392778"/>
            <a:ext cx="47549" cy="790956"/>
          </a:xfrm>
          <a:prstGeom prst="roundRect">
            <a:avLst>
              <a:gd name="adj" fmla="val 185356"/>
            </a:avLst>
          </a:prstGeom>
          <a:solidFill>
            <a:srgbClr val="D1D9E6"/>
          </a:solidFill>
          <a:ln w="12700">
            <a:solidFill>
              <a:srgbClr val="D1D9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2" name="Shape 26"/>
          <p:cNvSpPr/>
          <p:nvPr/>
        </p:nvSpPr>
        <p:spPr>
          <a:xfrm>
            <a:off x="933602" y="4549140"/>
            <a:ext cx="476402" cy="476402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1086307" y="4672584"/>
            <a:ext cx="171907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647749" y="4535424"/>
            <a:ext cx="5257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Journalisation complète Audit Trail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1647749" y="4839919"/>
            <a:ext cx="5257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Traçabilité 100% des actions et modifications.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648310" y="5372100"/>
            <a:ext cx="6381598" cy="790956"/>
          </a:xfrm>
          <a:prstGeom prst="roundRect">
            <a:avLst>
              <a:gd name="adj" fmla="val 1114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7" name="Shape 30"/>
          <p:cNvSpPr/>
          <p:nvPr/>
        </p:nvSpPr>
        <p:spPr>
          <a:xfrm>
            <a:off x="648310" y="5372100"/>
            <a:ext cx="47549" cy="790956"/>
          </a:xfrm>
          <a:prstGeom prst="roundRect">
            <a:avLst>
              <a:gd name="adj" fmla="val 185356"/>
            </a:avLst>
          </a:prstGeom>
          <a:solidFill>
            <a:srgbClr val="D1D9E6"/>
          </a:solidFill>
          <a:ln w="12700">
            <a:solidFill>
              <a:srgbClr val="D1D9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8" name="Shape 31"/>
          <p:cNvSpPr/>
          <p:nvPr/>
        </p:nvSpPr>
        <p:spPr>
          <a:xfrm>
            <a:off x="933602" y="5527548"/>
            <a:ext cx="476402" cy="476402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1028700" y="5651906"/>
            <a:ext cx="286207" cy="2286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647749" y="5514746"/>
            <a:ext cx="5257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Gouvernance Marketing /  Réseau</a:t>
            </a:r>
            <a:endParaRPr lang="en-US" sz="1300" dirty="0"/>
          </a:p>
        </p:txBody>
      </p:sp>
      <p:sp>
        <p:nvSpPr>
          <p:cNvPr id="41" name="Text 33"/>
          <p:cNvSpPr txBox="1"/>
          <p:nvPr/>
        </p:nvSpPr>
        <p:spPr>
          <a:xfrm>
            <a:off x="1647749" y="5819242"/>
            <a:ext cx="5257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Rôles et permissions granulaires pour </a:t>
            </a:r>
            <a:r>
              <a:rPr lang="en-US" sz="1200" dirty="0" err="1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chaques</a:t>
            </a: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acteurs</a:t>
            </a: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7812634" y="2084832"/>
            <a:ext cx="666598" cy="666598"/>
          </a:xfrm>
          <a:prstGeom prst="roundRect">
            <a:avLst>
              <a:gd name="adj" fmla="val 2351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27C7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8198" y="5829300"/>
            <a:ext cx="3086100" cy="552298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8840419" y="5829300"/>
            <a:ext cx="2233879" cy="55321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94A3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DATALAKE</a:t>
            </a:r>
            <a:endParaRPr lang="en-US" sz="1200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8588045" y="6019495"/>
            <a:ext cx="133502" cy="152705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9479585" y="5076749"/>
            <a:ext cx="95098" cy="95098"/>
          </a:xfrm>
          <a:prstGeom prst="ellipse">
            <a:avLst/>
          </a:prstGeom>
          <a:solidFill>
            <a:srgbClr val="1F6A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cxnSp>
        <p:nvCxnSpPr>
          <p:cNvPr id="60" name="Connecteur droit 59"/>
          <p:cNvCxnSpPr/>
          <p:nvPr/>
        </p:nvCxnSpPr>
        <p:spPr>
          <a:xfrm>
            <a:off x="9479585" y="4610405"/>
            <a:ext cx="0" cy="1218895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3161" y="4990795"/>
            <a:ext cx="2314346" cy="457200"/>
          </a:xfrm>
          <a:prstGeom prst="rect">
            <a:avLst/>
          </a:prstGeom>
        </p:spPr>
      </p:pic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69D5255C-3B68-8A7C-F8E8-C8B724DEA76D}"/>
              </a:ext>
            </a:extLst>
          </p:cNvPr>
          <p:cNvCxnSpPr/>
          <p:nvPr/>
        </p:nvCxnSpPr>
        <p:spPr>
          <a:xfrm>
            <a:off x="9479585" y="3312414"/>
            <a:ext cx="0" cy="1218895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42"/>
          <p:cNvSpPr/>
          <p:nvPr/>
        </p:nvSpPr>
        <p:spPr>
          <a:xfrm>
            <a:off x="8373161" y="4990795"/>
            <a:ext cx="2315261" cy="457200"/>
          </a:xfrm>
          <a:prstGeom prst="rect">
            <a:avLst/>
          </a:prstGeom>
          <a:solidFill>
            <a:schemeClr val="bg1">
              <a:alpha val="0"/>
            </a:schemeClr>
          </a:solidFill>
          <a:ln w="25400">
            <a:solidFill>
              <a:srgbClr val="1F6A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6A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API Gateway / Event Bus</a:t>
            </a:r>
            <a:endParaRPr lang="en-US" sz="12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88198" y="3866998"/>
            <a:ext cx="3086100" cy="743407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106510" y="3866998"/>
            <a:ext cx="1967789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CampaignHub Orchestrator</a:t>
            </a:r>
            <a:endParaRPr lang="en-US" sz="12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3"/>
          <a:srcRect t="-180" b="-180"/>
          <a:stretch/>
        </p:blipFill>
        <p:spPr>
          <a:xfrm>
            <a:off x="8796528" y="4037990"/>
            <a:ext cx="190195" cy="152705"/>
          </a:xfrm>
          <a:prstGeom prst="rect">
            <a:avLst/>
          </a:prstGeom>
        </p:spPr>
      </p:pic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14"/>
          <a:srcRect l="-3" r="-3"/>
          <a:stretch/>
        </p:blipFill>
        <p:spPr>
          <a:xfrm>
            <a:off x="7402982" y="1454810"/>
            <a:ext cx="4249217" cy="1925726"/>
          </a:xfrm>
          <a:prstGeom prst="rect">
            <a:avLst/>
          </a:prstGeom>
        </p:spPr>
      </p:pic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955280" y="2227478"/>
            <a:ext cx="381305" cy="381305"/>
          </a:xfrm>
          <a:prstGeom prst="rect">
            <a:avLst/>
          </a:prstGeom>
        </p:spPr>
      </p:pic>
      <p:sp>
        <p:nvSpPr>
          <p:cNvPr id="54" name="Shape 39"/>
          <p:cNvSpPr/>
          <p:nvPr/>
        </p:nvSpPr>
        <p:spPr>
          <a:xfrm>
            <a:off x="8764524" y="1693469"/>
            <a:ext cx="190195" cy="19202"/>
          </a:xfrm>
          <a:prstGeom prst="rect">
            <a:avLst/>
          </a:prstGeom>
          <a:solidFill>
            <a:srgbClr val="27C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5" name="Text 40"/>
          <p:cNvSpPr txBox="1"/>
          <p:nvPr/>
        </p:nvSpPr>
        <p:spPr>
          <a:xfrm>
            <a:off x="8764524" y="1859424"/>
            <a:ext cx="2641702" cy="1074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CampaignHub orchestre les parcours, il ne décide pas à la place de la banque.</a:t>
            </a:r>
            <a:endParaRPr lang="en-US" sz="1600" dirty="0"/>
          </a:p>
        </p:txBody>
      </p:sp>
      <p:sp>
        <p:nvSpPr>
          <p:cNvPr id="61" name="Shape 2">
            <a:extLst>
              <a:ext uri="{FF2B5EF4-FFF2-40B4-BE49-F238E27FC236}">
                <a16:creationId xmlns:a16="http://schemas.microsoft.com/office/drawing/2014/main" id="{A207548D-D62B-5B00-EE83-ACEE50B97CC3}"/>
              </a:ext>
            </a:extLst>
          </p:cNvPr>
          <p:cNvSpPr/>
          <p:nvPr/>
        </p:nvSpPr>
        <p:spPr>
          <a:xfrm>
            <a:off x="4261" y="9716"/>
            <a:ext cx="12191695" cy="4480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4456F9E4-8F58-B74D-C715-947F796BED3C}"/>
              </a:ext>
            </a:extLst>
          </p:cNvPr>
          <p:cNvGrpSpPr/>
          <p:nvPr/>
        </p:nvGrpSpPr>
        <p:grpSpPr>
          <a:xfrm>
            <a:off x="540410" y="-192303"/>
            <a:ext cx="4385073" cy="729585"/>
            <a:chOff x="540410" y="-192303"/>
            <a:chExt cx="4385073" cy="729585"/>
          </a:xfrm>
        </p:grpSpPr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3BD9332C-ECA6-8CA6-93D5-98065F24594D}"/>
                </a:ext>
              </a:extLst>
            </p:cNvPr>
            <p:cNvSpPr txBox="1"/>
            <p:nvPr/>
          </p:nvSpPr>
          <p:spPr>
            <a:xfrm>
              <a:off x="540410" y="209"/>
              <a:ext cx="232020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 err="1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Campaign</a:t>
              </a:r>
              <a:r>
                <a:rPr lang="en-US" sz="1800" b="1" dirty="0" err="1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Hub</a:t>
              </a:r>
              <a:r>
                <a:rPr lang="en-US" sz="1800" b="1" dirty="0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by</a:t>
              </a:r>
              <a:endParaRPr lang="en-US" sz="1800" dirty="0"/>
            </a:p>
          </p:txBody>
        </p:sp>
        <p:pic>
          <p:nvPicPr>
            <p:cNvPr id="45" name="Image 44">
              <a:extLst>
                <a:ext uri="{FF2B5EF4-FFF2-40B4-BE49-F238E27FC236}">
                  <a16:creationId xmlns:a16="http://schemas.microsoft.com/office/drawing/2014/main" id="{59FB57ED-4A07-C496-B86D-908E4F7E6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17" y="-192303"/>
              <a:ext cx="2064866" cy="729585"/>
            </a:xfrm>
            <a:prstGeom prst="rect">
              <a:avLst/>
            </a:prstGeom>
          </p:spPr>
        </p:pic>
      </p:grpSp>
      <p:sp>
        <p:nvSpPr>
          <p:cNvPr id="9" name="Text 6"/>
          <p:cNvSpPr/>
          <p:nvPr/>
        </p:nvSpPr>
        <p:spPr>
          <a:xfrm>
            <a:off x="11189513" y="9144"/>
            <a:ext cx="4672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64586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8D9D8D32-FB78-BED1-2835-5AFDDB007F37}"/>
              </a:ext>
            </a:extLst>
          </p:cNvPr>
          <p:cNvSpPr/>
          <p:nvPr/>
        </p:nvSpPr>
        <p:spPr>
          <a:xfrm>
            <a:off x="0" y="0"/>
            <a:ext cx="12191695" cy="4480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513" y="9144"/>
            <a:ext cx="466344" cy="3236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89513" y="9144"/>
            <a:ext cx="4672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14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6570" y="712318"/>
            <a:ext cx="1011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alternative aux solutions génériques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48310" y="759866"/>
            <a:ext cx="57607" cy="362102"/>
          </a:xfrm>
          <a:prstGeom prst="roundRect">
            <a:avLst>
              <a:gd name="adj" fmla="val 793654"/>
            </a:avLst>
          </a:prstGeom>
          <a:solidFill>
            <a:srgbClr val="1F6A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2" name="Shape 9"/>
          <p:cNvSpPr/>
          <p:nvPr/>
        </p:nvSpPr>
        <p:spPr>
          <a:xfrm>
            <a:off x="648310" y="1454810"/>
            <a:ext cx="3543300" cy="1686154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3" name="Shape 10"/>
          <p:cNvSpPr/>
          <p:nvPr/>
        </p:nvSpPr>
        <p:spPr>
          <a:xfrm>
            <a:off x="648310" y="1454810"/>
            <a:ext cx="3543300" cy="38405"/>
          </a:xfrm>
          <a:prstGeom prst="roundRect">
            <a:avLst>
              <a:gd name="adj" fmla="val 107613"/>
            </a:avLst>
          </a:prstGeom>
          <a:solidFill>
            <a:srgbClr val="1F6AE1"/>
          </a:solidFill>
          <a:ln w="12700">
            <a:solidFill>
              <a:srgbClr val="1F6A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4" name="Shape 11"/>
          <p:cNvSpPr/>
          <p:nvPr/>
        </p:nvSpPr>
        <p:spPr>
          <a:xfrm>
            <a:off x="838505" y="1683410"/>
            <a:ext cx="476402" cy="476402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948233" y="1807769"/>
            <a:ext cx="256946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38505" y="2303374"/>
            <a:ext cx="3277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Conception de Parcours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38505" y="2577694"/>
            <a:ext cx="3238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Orchestration de journeys complets, pas seulement exécution de campagnes isolées.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379062" y="1454810"/>
            <a:ext cx="3543300" cy="1686154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9" name="Shape 15"/>
          <p:cNvSpPr/>
          <p:nvPr/>
        </p:nvSpPr>
        <p:spPr>
          <a:xfrm>
            <a:off x="4379062" y="1454810"/>
            <a:ext cx="3543300" cy="38405"/>
          </a:xfrm>
          <a:prstGeom prst="roundRect">
            <a:avLst>
              <a:gd name="adj" fmla="val 107613"/>
            </a:avLst>
          </a:prstGeom>
          <a:solidFill>
            <a:srgbClr val="1F6AE1"/>
          </a:solidFill>
          <a:ln w="12700">
            <a:solidFill>
              <a:srgbClr val="1F6A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0" name="Shape 16"/>
          <p:cNvSpPr/>
          <p:nvPr/>
        </p:nvSpPr>
        <p:spPr>
          <a:xfrm>
            <a:off x="4570171" y="1683410"/>
            <a:ext cx="476402" cy="476402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4665269" y="1807769"/>
            <a:ext cx="286207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570171" y="2303374"/>
            <a:ext cx="3277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Hybridation Native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570171" y="2577694"/>
            <a:ext cx="3238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Intégration fluide du digital et de l'humain (DA/CC) dès la conception.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110728" y="1454810"/>
            <a:ext cx="3543300" cy="1686154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5" name="Shape 20"/>
          <p:cNvSpPr/>
          <p:nvPr/>
        </p:nvSpPr>
        <p:spPr>
          <a:xfrm>
            <a:off x="8110728" y="1454810"/>
            <a:ext cx="3543300" cy="38405"/>
          </a:xfrm>
          <a:prstGeom prst="roundRect">
            <a:avLst>
              <a:gd name="adj" fmla="val 107613"/>
            </a:avLst>
          </a:prstGeom>
          <a:solidFill>
            <a:srgbClr val="1F6AE1"/>
          </a:solidFill>
          <a:ln w="12700">
            <a:solidFill>
              <a:srgbClr val="1F6A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6" name="Shape 21"/>
          <p:cNvSpPr/>
          <p:nvPr/>
        </p:nvSpPr>
        <p:spPr>
          <a:xfrm>
            <a:off x="8301838" y="1683410"/>
            <a:ext cx="476402" cy="476402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25282" y="1807769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301838" y="2303374"/>
            <a:ext cx="3277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Pilotage Temps Réel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301838" y="2577694"/>
            <a:ext cx="3238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Suivi granulaire des étapes intermédiaires pour ajustements immédiats.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2481682" y="3331159"/>
            <a:ext cx="3581705" cy="1686154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1" name="Shape 25"/>
          <p:cNvSpPr/>
          <p:nvPr/>
        </p:nvSpPr>
        <p:spPr>
          <a:xfrm>
            <a:off x="2481682" y="3331159"/>
            <a:ext cx="3581705" cy="38405"/>
          </a:xfrm>
          <a:prstGeom prst="roundRect">
            <a:avLst>
              <a:gd name="adj" fmla="val 107613"/>
            </a:avLst>
          </a:prstGeom>
          <a:solidFill>
            <a:srgbClr val="1F6AE1"/>
          </a:solidFill>
          <a:ln w="12700">
            <a:solidFill>
              <a:srgbClr val="1F6A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2" name="Shape 26"/>
          <p:cNvSpPr/>
          <p:nvPr/>
        </p:nvSpPr>
        <p:spPr>
          <a:xfrm>
            <a:off x="2671877" y="3559759"/>
            <a:ext cx="476402" cy="476402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795321" y="3684118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2671877" y="4178808"/>
            <a:ext cx="3314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Autonomie Métier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2671877" y="4453128"/>
            <a:ext cx="32772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Indépendance des équipes marketing sans dépendance lourde à l'IT.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6245352" y="3331159"/>
            <a:ext cx="3581705" cy="1686154"/>
          </a:xfrm>
          <a:prstGeom prst="roundRect">
            <a:avLst>
              <a:gd name="adj" fmla="val 2451"/>
            </a:avLst>
          </a:prstGeom>
          <a:solidFill>
            <a:srgbClr val="F0F7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7" name="Shape 30"/>
          <p:cNvSpPr/>
          <p:nvPr/>
        </p:nvSpPr>
        <p:spPr>
          <a:xfrm>
            <a:off x="6245352" y="3331159"/>
            <a:ext cx="3581705" cy="38405"/>
          </a:xfrm>
          <a:prstGeom prst="roundRect">
            <a:avLst>
              <a:gd name="adj" fmla="val 107613"/>
            </a:avLst>
          </a:prstGeom>
          <a:solidFill>
            <a:srgbClr val="27C7FF"/>
          </a:solidFill>
          <a:ln w="12700">
            <a:solidFill>
              <a:srgbClr val="27C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8" name="Shape 31"/>
          <p:cNvSpPr/>
          <p:nvPr/>
        </p:nvSpPr>
        <p:spPr>
          <a:xfrm>
            <a:off x="6435547" y="3559759"/>
            <a:ext cx="476402" cy="476402"/>
          </a:xfrm>
          <a:prstGeom prst="ellipse">
            <a:avLst/>
          </a:prstGeom>
          <a:solidFill>
            <a:srgbClr val="27C7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6588252" y="3684118"/>
            <a:ext cx="171907" cy="2286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6435547" y="4178808"/>
            <a:ext cx="3314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Adapté Banques Marocaines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6435547" y="4453128"/>
            <a:ext cx="32772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Conçu pour la réalité organisationnelle et culturelle locale.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648310" y="5302606"/>
            <a:ext cx="11011205" cy="1343254"/>
          </a:xfrm>
          <a:prstGeom prst="roundRect">
            <a:avLst>
              <a:gd name="adj" fmla="val 3862"/>
            </a:avLst>
          </a:prstGeom>
          <a:solidFill>
            <a:srgbClr val="0B2A4A"/>
          </a:solidFill>
          <a:ln/>
          <a:effectLst>
            <a:outerShdw blurRad="139700" dist="38100" dir="16200000" algn="bl" rotWithShape="0">
              <a:srgbClr val="0B2A4A">
                <a:alpha val="1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43" name="Shape 35"/>
          <p:cNvSpPr/>
          <p:nvPr/>
        </p:nvSpPr>
        <p:spPr>
          <a:xfrm>
            <a:off x="648310" y="5302606"/>
            <a:ext cx="75895" cy="1343254"/>
          </a:xfrm>
          <a:prstGeom prst="roundRect">
            <a:avLst>
              <a:gd name="adj" fmla="val 68359"/>
            </a:avLst>
          </a:prstGeom>
          <a:solidFill>
            <a:srgbClr val="27C7FF"/>
          </a:solidFill>
          <a:ln w="12700">
            <a:solidFill>
              <a:srgbClr val="27C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7961" y="5781751"/>
            <a:ext cx="381305" cy="381305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1724558" y="5541264"/>
            <a:ext cx="9715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7C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POSITIONNEMENT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1724558" y="5541264"/>
            <a:ext cx="190195" cy="19202"/>
          </a:xfrm>
          <a:prstGeom prst="rect">
            <a:avLst/>
          </a:prstGeom>
          <a:solidFill>
            <a:srgbClr val="27C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7" name="Text 38"/>
          <p:cNvSpPr txBox="1"/>
          <p:nvPr/>
        </p:nvSpPr>
        <p:spPr>
          <a:xfrm>
            <a:off x="1724558" y="5817413"/>
            <a:ext cx="9679838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CampaignHub est une plateforme d'orchestration commerciale, pas un outil marketing standard.</a:t>
            </a:r>
            <a:endParaRPr lang="en-US" sz="1600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BCA2626E-9316-4F40-7056-2614109333A3}"/>
              </a:ext>
            </a:extLst>
          </p:cNvPr>
          <p:cNvGrpSpPr/>
          <p:nvPr/>
        </p:nvGrpSpPr>
        <p:grpSpPr>
          <a:xfrm>
            <a:off x="540410" y="-192303"/>
            <a:ext cx="4385073" cy="729585"/>
            <a:chOff x="540410" y="-192303"/>
            <a:chExt cx="4385073" cy="729585"/>
          </a:xfrm>
        </p:grpSpPr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193A878-85B9-0485-6D1F-F6F9628CD926}"/>
                </a:ext>
              </a:extLst>
            </p:cNvPr>
            <p:cNvSpPr txBox="1"/>
            <p:nvPr/>
          </p:nvSpPr>
          <p:spPr>
            <a:xfrm>
              <a:off x="540410" y="209"/>
              <a:ext cx="232020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 err="1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Campaign</a:t>
              </a:r>
              <a:r>
                <a:rPr lang="en-US" sz="1800" b="1" dirty="0" err="1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Hub</a:t>
              </a:r>
              <a:r>
                <a:rPr lang="en-US" sz="1800" b="1" dirty="0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by</a:t>
              </a:r>
              <a:endParaRPr lang="en-US" sz="1800" dirty="0"/>
            </a:p>
          </p:txBody>
        </p:sp>
        <p:pic>
          <p:nvPicPr>
            <p:cNvPr id="51" name="Image 50">
              <a:extLst>
                <a:ext uri="{FF2B5EF4-FFF2-40B4-BE49-F238E27FC236}">
                  <a16:creationId xmlns:a16="http://schemas.microsoft.com/office/drawing/2014/main" id="{952D2B24-222F-4719-5889-AF0E68ED1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17" y="-192303"/>
              <a:ext cx="2064866" cy="7295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305" y="-209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7" name="Shape 2">
            <a:extLst>
              <a:ext uri="{FF2B5EF4-FFF2-40B4-BE49-F238E27FC236}">
                <a16:creationId xmlns:a16="http://schemas.microsoft.com/office/drawing/2014/main" id="{CBFFC389-1DAE-C126-5572-2AB8C2DD41BB}"/>
              </a:ext>
            </a:extLst>
          </p:cNvPr>
          <p:cNvSpPr/>
          <p:nvPr/>
        </p:nvSpPr>
        <p:spPr>
          <a:xfrm>
            <a:off x="0" y="0"/>
            <a:ext cx="12191695" cy="4480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513" y="206654"/>
            <a:ext cx="466344" cy="3236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14695" y="209"/>
            <a:ext cx="4672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15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4456" y="836742"/>
            <a:ext cx="1011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Décider vite, sans risque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48310" y="884291"/>
            <a:ext cx="57607" cy="362102"/>
          </a:xfrm>
          <a:prstGeom prst="roundRect">
            <a:avLst>
              <a:gd name="adj" fmla="val 793654"/>
            </a:avLst>
          </a:prstGeom>
          <a:solidFill>
            <a:srgbClr val="1F6A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2" name="Shape 9"/>
          <p:cNvSpPr/>
          <p:nvPr/>
        </p:nvSpPr>
        <p:spPr>
          <a:xfrm>
            <a:off x="648310" y="1665928"/>
            <a:ext cx="2581351" cy="2572207"/>
          </a:xfrm>
          <a:prstGeom prst="roundRect">
            <a:avLst>
              <a:gd name="adj" fmla="val 1580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3" name="Shape 10"/>
          <p:cNvSpPr/>
          <p:nvPr/>
        </p:nvSpPr>
        <p:spPr>
          <a:xfrm>
            <a:off x="648310" y="4199731"/>
            <a:ext cx="2581351" cy="38405"/>
          </a:xfrm>
          <a:prstGeom prst="roundRect">
            <a:avLst>
              <a:gd name="adj" fmla="val 105820"/>
            </a:avLst>
          </a:prstGeom>
          <a:solidFill>
            <a:srgbClr val="1F6AE1"/>
          </a:solidFill>
          <a:ln w="12700">
            <a:solidFill>
              <a:srgbClr val="1F6A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4" name="Text 11"/>
          <p:cNvSpPr txBox="1"/>
          <p:nvPr/>
        </p:nvSpPr>
        <p:spPr>
          <a:xfrm>
            <a:off x="2621585" y="1808575"/>
            <a:ext cx="50657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1601114" y="1951221"/>
            <a:ext cx="666598" cy="666598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881" r="-881"/>
          <a:stretch/>
        </p:blipFill>
        <p:spPr>
          <a:xfrm>
            <a:off x="1815084" y="2151475"/>
            <a:ext cx="237744" cy="2670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410005" y="2856477"/>
            <a:ext cx="1057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POC Cadré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00100" y="3222237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Validation sur un cas d'usage réel et prioritaire de la banque.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458261" y="1665928"/>
            <a:ext cx="2581351" cy="2572207"/>
          </a:xfrm>
          <a:prstGeom prst="roundRect">
            <a:avLst>
              <a:gd name="adj" fmla="val 1580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0" name="Shape 16"/>
          <p:cNvSpPr/>
          <p:nvPr/>
        </p:nvSpPr>
        <p:spPr>
          <a:xfrm>
            <a:off x="3458261" y="4199731"/>
            <a:ext cx="2581351" cy="38405"/>
          </a:xfrm>
          <a:prstGeom prst="roundRect">
            <a:avLst>
              <a:gd name="adj" fmla="val 105820"/>
            </a:avLst>
          </a:prstGeom>
          <a:solidFill>
            <a:srgbClr val="27C7FF"/>
          </a:solidFill>
          <a:ln w="12700">
            <a:solidFill>
              <a:srgbClr val="27C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1" name="Text 17"/>
          <p:cNvSpPr txBox="1"/>
          <p:nvPr/>
        </p:nvSpPr>
        <p:spPr>
          <a:xfrm>
            <a:off x="5362956" y="1808575"/>
            <a:ext cx="571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22" name="Shape 18"/>
          <p:cNvSpPr/>
          <p:nvPr/>
        </p:nvSpPr>
        <p:spPr>
          <a:xfrm>
            <a:off x="4411066" y="1951221"/>
            <a:ext cx="666598" cy="666598"/>
          </a:xfrm>
          <a:prstGeom prst="ellipse">
            <a:avLst/>
          </a:prstGeom>
          <a:solidFill>
            <a:srgbClr val="E1F5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11319" y="2151475"/>
            <a:ext cx="267005" cy="26700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758184" y="2856477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Périmètre Maîtrisé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3610966" y="3222237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Scope limité pour garantir un déploiement rapide et sans friction.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269126" y="1665928"/>
            <a:ext cx="2581351" cy="2572207"/>
          </a:xfrm>
          <a:prstGeom prst="roundRect">
            <a:avLst>
              <a:gd name="adj" fmla="val 1580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7" name="Shape 22"/>
          <p:cNvSpPr/>
          <p:nvPr/>
        </p:nvSpPr>
        <p:spPr>
          <a:xfrm>
            <a:off x="6269126" y="4199731"/>
            <a:ext cx="2581351" cy="38405"/>
          </a:xfrm>
          <a:prstGeom prst="roundRect">
            <a:avLst>
              <a:gd name="adj" fmla="val 105820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8" name="Text 23"/>
          <p:cNvSpPr txBox="1"/>
          <p:nvPr/>
        </p:nvSpPr>
        <p:spPr>
          <a:xfrm>
            <a:off x="8173822" y="1808575"/>
            <a:ext cx="571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29" name="Shape 24"/>
          <p:cNvSpPr/>
          <p:nvPr/>
        </p:nvSpPr>
        <p:spPr>
          <a:xfrm>
            <a:off x="7221931" y="1951221"/>
            <a:ext cx="666598" cy="666598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22185" y="2151475"/>
            <a:ext cx="267005" cy="26700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541618" y="2856477"/>
            <a:ext cx="2029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 Business Clairs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6421831" y="3222237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Définition d'objectifs de succès mesurables dès le lancement.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9079992" y="1665928"/>
            <a:ext cx="2581351" cy="2572207"/>
          </a:xfrm>
          <a:prstGeom prst="roundRect">
            <a:avLst>
              <a:gd name="adj" fmla="val 1580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4" name="Shape 28"/>
          <p:cNvSpPr/>
          <p:nvPr/>
        </p:nvSpPr>
        <p:spPr>
          <a:xfrm>
            <a:off x="9079992" y="4199731"/>
            <a:ext cx="2581351" cy="38405"/>
          </a:xfrm>
          <a:prstGeom prst="roundRect">
            <a:avLst>
              <a:gd name="adj" fmla="val 105820"/>
            </a:avLst>
          </a:prstGeom>
          <a:solidFill>
            <a:srgbClr val="0B2A4A"/>
          </a:solidFill>
          <a:ln w="12700">
            <a:solidFill>
              <a:srgbClr val="0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5" name="Text 29"/>
          <p:cNvSpPr txBox="1"/>
          <p:nvPr/>
        </p:nvSpPr>
        <p:spPr>
          <a:xfrm>
            <a:off x="10943539" y="1808575"/>
            <a:ext cx="6099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000" dirty="0"/>
          </a:p>
        </p:txBody>
      </p:sp>
      <p:sp>
        <p:nvSpPr>
          <p:cNvPr id="36" name="Shape 30"/>
          <p:cNvSpPr/>
          <p:nvPr/>
        </p:nvSpPr>
        <p:spPr>
          <a:xfrm>
            <a:off x="10032797" y="1951221"/>
            <a:ext cx="666598" cy="66659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 l="-881" r="-881"/>
          <a:stretch/>
        </p:blipFill>
        <p:spPr>
          <a:xfrm>
            <a:off x="10246766" y="2151475"/>
            <a:ext cx="237744" cy="267005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430207" y="2856477"/>
            <a:ext cx="1872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Évaluation Rapide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231782" y="3222237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Bilan complet et décision de généralisation sous 60 à 90 jours.</a:t>
            </a:r>
            <a:endParaRPr lang="en-US" sz="12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rcRect l="-2" r="-2"/>
          <a:stretch/>
        </p:blipFill>
        <p:spPr>
          <a:xfrm>
            <a:off x="648310" y="4892954"/>
            <a:ext cx="11003890" cy="1533449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028700" y="5178247"/>
            <a:ext cx="78684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7C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PROPOSITION DE VALEUR FINALE</a:t>
            </a:r>
            <a:endParaRPr lang="en-US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1028700" y="5454396"/>
            <a:ext cx="78391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Permettre à la banque de décider sur la base de résultats mesurés, et non de promesses.</a:t>
            </a:r>
            <a:endParaRPr lang="en-US" sz="180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3668" y="5387645"/>
            <a:ext cx="2505456" cy="543154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8773668" y="5387645"/>
            <a:ext cx="2505456" cy="5431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75" dirty="0">
                <a:solidFill>
                  <a:srgbClr val="0B2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LANCER LE POC</a:t>
            </a:r>
            <a:endParaRPr lang="en-US" sz="130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rcRect l="-3799" r="-3799"/>
          <a:stretch/>
        </p:blipFill>
        <p:spPr>
          <a:xfrm>
            <a:off x="10923689" y="5573268"/>
            <a:ext cx="161849" cy="171907"/>
          </a:xfrm>
          <a:prstGeom prst="rect">
            <a:avLst/>
          </a:prstGeom>
        </p:spPr>
      </p:pic>
      <p:grpSp>
        <p:nvGrpSpPr>
          <p:cNvPr id="6" name="Groupe 5">
            <a:extLst>
              <a:ext uri="{FF2B5EF4-FFF2-40B4-BE49-F238E27FC236}">
                <a16:creationId xmlns:a16="http://schemas.microsoft.com/office/drawing/2014/main" id="{0C066760-5DA2-50EB-205A-A30826DF8BDF}"/>
              </a:ext>
            </a:extLst>
          </p:cNvPr>
          <p:cNvGrpSpPr/>
          <p:nvPr/>
        </p:nvGrpSpPr>
        <p:grpSpPr>
          <a:xfrm>
            <a:off x="540410" y="-192303"/>
            <a:ext cx="4385073" cy="729585"/>
            <a:chOff x="540410" y="-192303"/>
            <a:chExt cx="4385073" cy="729585"/>
          </a:xfrm>
        </p:grpSpPr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4737F3E1-15C7-6EA7-898D-32A2DDC9A7B9}"/>
                </a:ext>
              </a:extLst>
            </p:cNvPr>
            <p:cNvSpPr txBox="1"/>
            <p:nvPr/>
          </p:nvSpPr>
          <p:spPr>
            <a:xfrm>
              <a:off x="540410" y="209"/>
              <a:ext cx="232020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 err="1">
                  <a:solidFill>
                    <a:srgbClr val="0B2A4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Campaign</a:t>
              </a:r>
              <a:r>
                <a:rPr lang="en-US" sz="1800" b="1" dirty="0" err="1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Hub</a:t>
              </a:r>
              <a:r>
                <a:rPr lang="en-US" sz="1800" b="1" dirty="0">
                  <a:solidFill>
                    <a:srgbClr val="1F6AE1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by</a:t>
              </a:r>
              <a:endParaRPr lang="en-US" sz="1800" dirty="0"/>
            </a:p>
          </p:txBody>
        </p:sp>
        <p:pic>
          <p:nvPicPr>
            <p:cNvPr id="45" name="Image 44">
              <a:extLst>
                <a:ext uri="{FF2B5EF4-FFF2-40B4-BE49-F238E27FC236}">
                  <a16:creationId xmlns:a16="http://schemas.microsoft.com/office/drawing/2014/main" id="{44ACC6B0-F5A7-1B03-F625-8D0D5DB2B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17" y="-192303"/>
              <a:ext cx="2064866" cy="7295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1541</Words>
  <Application>Microsoft Office PowerPoint</Application>
  <PresentationFormat>Grand écran</PresentationFormat>
  <Paragraphs>277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Lato</vt:lpstr>
      <vt:lpstr>Montserrat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Amine Ghaouta</dc:creator>
  <cp:lastModifiedBy>ZITANE Zakariae</cp:lastModifiedBy>
  <cp:revision>9</cp:revision>
  <dcterms:created xsi:type="dcterms:W3CDTF">2026-02-22T02:27:13Z</dcterms:created>
  <dcterms:modified xsi:type="dcterms:W3CDTF">2026-02-23T11:12:12Z</dcterms:modified>
</cp:coreProperties>
</file>