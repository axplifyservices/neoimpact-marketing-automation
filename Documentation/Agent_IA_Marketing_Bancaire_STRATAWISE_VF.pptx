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64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Marketing de masse</c:v>
                </c:pt>
              </c:strCache>
            </c:strRef>
          </c:tx>
          <c:spPr>
            <a:solidFill>
              <a:srgbClr val="8A95A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2F36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Crédit</c:v>
                </c:pt>
                <c:pt idx="1">
                  <c:v>Carte</c:v>
                </c:pt>
                <c:pt idx="2">
                  <c:v>Épargne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Avec agent IA</c:v>
                </c:pt>
              </c:strCache>
            </c:strRef>
          </c:tx>
          <c:spPr>
            <a:solidFill>
              <a:srgbClr val="003B7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2F36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Crédit</c:v>
                </c:pt>
                <c:pt idx="1">
                  <c:v>Carte</c:v>
                </c:pt>
                <c:pt idx="2">
                  <c:v>Épargne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122</c:v>
                </c:pt>
                <c:pt idx="1">
                  <c:v>128</c:v>
                </c:pt>
                <c:pt idx="2">
                  <c:v>118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523110496"/>
        <c:axId val="523119744"/>
      </c:barChart>
      <c:catAx>
        <c:axId val="5231104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25F"/>
                </a:solidFill>
                <a:latin typeface="Calibri"/>
              </a:defRPr>
            </a:pPr>
            <a:endParaRPr lang="fr-FR"/>
          </a:p>
        </c:txPr>
        <c:crossAx val="523119744"/>
        <c:crosses val="autoZero"/>
        <c:auto val="1"/>
        <c:lblAlgn val="ctr"/>
        <c:lblOffset val="100"/>
        <c:noMultiLvlLbl val="1"/>
      </c:catAx>
      <c:valAx>
        <c:axId val="523119744"/>
        <c:scaling>
          <c:orientation val="minMax"/>
          <c:max val="1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523110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47525F"/>
              </a:solidFill>
              <a:latin typeface="Calibri"/>
              <a:cs typeface="Calibri"/>
            </a:defRPr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83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d'ouverture. Poser le sujet : un agent IA qui, chaque nuit, prépare les meilleures actions marketing, et qui intègre nativement la conformité bancaire.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réponse d'abord : ce que fait l'agent et les 4 résultats clés. Insister sur le 'conforme par construction'.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coût de l'inaction sur 3 axes MECE. C'est la slide qui fait décider : sans elle, l'agent n'est qu'un gadget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schéma directeur. Les 3 premières questions créent la valeur, la 4e la sécurise. La flèche montre l'enchaînement.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 macro du pipeline, en langage métier. Insister sur l'automatisation totale et la disponibilité avant la journée de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score simplement : une note d'appétence. Le tableau illustre le tri. Ne pas entrer dans le détail des modèles.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NBA = arbitrage entre offres. La barre montre que Crédit Conso l'emporte. Chiffres illustratifs.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briques : le moment (STO) et le canal (routing + fallback). Le fallback Push→SMS→Email est un point de robustesse à souligner.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3 règles réglementaires. Le code d'exclusion (en bas de chaque carte) est tracé et auditable. Insister sur fail-closed.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 l'agent sélectionne et pondère les critères. Message : apprentissage à partir des données, pas de règles figées. Le graphe de poids illustre, il n'engage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mécanisme du timing (STO : historique + regroupement) et du choix de canal (préférence + joignabilité + fallback en cascade). Complète la slide 'Quand &amp; comment'.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boucle d'apprentissage fermée : entraînement → décision → observation des résultats → réajustement. Insister sur amélioration continue + supervision humaine + versionnage (pas de boîte noire non maîtrisée).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en langage métier : l'agent explique ses choix. Argument clé pour conformité et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pile fonctionnelle, de haut en bas. Message clé de souveraineté : tout reste chez la banque. La conformité est une couche traversée obligatoirement.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Comparaison frontale avant/après. Colonne de droite mise en avant (navy clair, ombre).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Slide-sommaire : montre l'étendue des situations couvertes par un seul moteur. La dernière ligne (conformité) rappelle le garde-fou. Signaux illustratifs.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d'usage détaillé : déclencheur (signal) → parcours de décision → résultat mesurable. Langage métier, chiffres illustratifs à calibrer.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d'usage détaillé : déclencheur (signal) → parcours de décision → résultat mesurable. Langage métier, chiffres illustratifs à calibrer.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d'usage détaillé : déclencheur (signal) → parcours de décision → résultat mesurable. Langage métier, chiffres illustratifs à calibrer.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Grille MECE des bénéfices. La conformité (3) est mise en accent or car c'est le différenciateur bancaire.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: ces chiffres sont des ordres de grandeur / hypothèses, explicitement à calibrer. Ne pas les présenter comme des engagements. Recommander un pilote A/B.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de bord des KPIs par axe. Répond à l'exigence 'résultats mesurables' : un indicateur par axe, cible à calibrer.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Rassurer sur la gouvernance. Points clés : souveraineté, traçabilité, supervision humaine, réversibilité.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anti-risque : intégration additive, pas de big bang. Réutilise l'existant.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jalonnée. Le pilote (phase 2) est mis en avant. Durées indicatives à calibrer.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3 conditions de succès, avec un sponsor par condition. Prépare la responsabilisation.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 'résultats mesurables' de la storyline. Un indicateur par axe, cible à calibrer. Honnête sur l'absence d'engagement chiffré prématuré.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L'action datée et claire : décider d'un pilote A/B. C'est le call-to-action. Chiffres de durée indicatifs.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 : réaffirmer la promesse et l'appel à l'action (le pilote).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tle_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stratawise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2920"/>
            <a:ext cx="1253222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AUTOMATION BANCAIRE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" y="27432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Cibler le bon client, avec la bonne offre,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bon moment — sous contrôle réglementaire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54864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à destination des directions Métier &amp; Marketing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STRATAWISE AFRICA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EXÉCUTIVE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moteur de décision qui transforme le marketing de masse en relance individualisée — et conforme par construction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051560"/>
          </a:xfrm>
          <a:prstGeom prst="roundRect">
            <a:avLst>
              <a:gd name="adj" fmla="val 5217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répond chaque nuit à quatre questions pour chaque client : </a:t>
            </a:r>
            <a:r>
              <a:rPr lang="en-US" sz="14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cibler, quoi lui proposer, quand et par quel canal</a:t>
            </a:r>
            <a:r>
              <a:rPr lang="en-US" sz="14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 écartant automatiquement tout client à risque ou sans consentement.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602154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108960"/>
            <a:ext cx="2602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D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85800" y="3977640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résolues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· Quoi · Quand · Conformité, par client et par nuit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79394" y="2880360"/>
            <a:ext cx="2602154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79394" y="3108960"/>
            <a:ext cx="2602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D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516554" y="3977640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2274" y="4434840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client ne sort du système d'information de la banque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0148" y="2880360"/>
            <a:ext cx="2602154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0148" y="3108960"/>
            <a:ext cx="2602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D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347308" y="3977640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sollicitation non conforme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93028" y="4434840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CNDP &amp; Bank Al-Maghrib appliqués avant toute campagne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40901" y="2880360"/>
            <a:ext cx="2602154" cy="2331720"/>
          </a:xfrm>
          <a:prstGeom prst="roundRect">
            <a:avLst>
              <a:gd name="adj" fmla="val 235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40901" y="3108960"/>
            <a:ext cx="26021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D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178061" y="3977640"/>
            <a:ext cx="2327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 restitution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23781" y="4434840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Branchée directement sur le Marketing Automation existant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le marketing passe d'une logique de volume à une logique de pertinence — plus de conversion, moins de pression, un risque réglementaire maîtrisé.</a:t>
            </a:r>
            <a:endParaRPr lang="en-US" sz="1200" dirty="0"/>
          </a:p>
        </p:txBody>
      </p:sp>
      <p:pic>
        <p:nvPicPr>
          <p:cNvPr id="23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L'ENJEU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Continuer le marketing de masse coûte cher, fatigue les clients et expose la banque — l'inaction n'est plus neutre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3429000"/>
          </a:xfrm>
          <a:prstGeom prst="roundRect">
            <a:avLst>
              <a:gd name="adj" fmla="val 16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en berne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campagnes uniformes touchent surtout des clients non intéressés : taux de conversion faibles et budget dilué.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296661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519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euro investi sur une cible mal choisie est un euro perdu.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8218" y="1600200"/>
            <a:ext cx="3515258" cy="3429000"/>
          </a:xfrm>
          <a:prstGeom prst="roundRect">
            <a:avLst>
              <a:gd name="adj" fmla="val 16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2538" y="187452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3" name="Text 11"/>
          <p:cNvSpPr/>
          <p:nvPr/>
        </p:nvSpPr>
        <p:spPr>
          <a:xfrm>
            <a:off x="461253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52618" y="1874520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Pression &amp; attrition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12538" y="260604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Sur-sollicitation, offres non pertinentes, mauvais canal : le client se désengage, se désabonne, ou part.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2538" y="4160520"/>
            <a:ext cx="296661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2538" y="42519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sur-pression détruit la valeur relationnelle à long terme.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7797" y="1600200"/>
            <a:ext cx="3515258" cy="3429000"/>
          </a:xfrm>
          <a:prstGeom prst="roundRect">
            <a:avLst>
              <a:gd name="adj" fmla="val 16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02117" y="187452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20" name="Text 18"/>
          <p:cNvSpPr/>
          <p:nvPr/>
        </p:nvSpPr>
        <p:spPr>
          <a:xfrm>
            <a:off x="8402117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42197" y="1874520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réglementaire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402117" y="260604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Sollicitations sans consentement CNDP ou vers des clients surendettés (BAM) : risque de sanction et d'image.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02117" y="4160520"/>
            <a:ext cx="296661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02117" y="42519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conformité gérée manuellement ne passe pas à l'échelle.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257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 : les données clients, les canaux digitaux et les exigences réglementaires sont déjà là. Ce qui manque, c'est le moteur qui les orchestre.</a:t>
            </a:r>
            <a:endParaRPr lang="en-US" sz="1250" dirty="0"/>
          </a:p>
        </p:txBody>
      </p:sp>
      <p:pic>
        <p:nvPicPr>
          <p:cNvPr id="26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moteur, quatre décisions enchaînées — de la sélection du client jusqu'au garde-fou réglementaire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81580" cy="3200400"/>
          </a:xfrm>
          <a:prstGeom prst="roundRect">
            <a:avLst>
              <a:gd name="adj" fmla="val 212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2215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215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Cibler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158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propension par client et par produit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11932" y="1691640"/>
            <a:ext cx="274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386252" y="1691640"/>
            <a:ext cx="2581580" cy="3200400"/>
          </a:xfrm>
          <a:prstGeom prst="roundRect">
            <a:avLst>
              <a:gd name="adj" fmla="val 212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9132" y="1920240"/>
            <a:ext cx="2215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 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9132" y="2331720"/>
            <a:ext cx="2215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9132" y="2971800"/>
            <a:ext cx="22158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Best Action : la meilleure offre pour ce client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9544" y="1691640"/>
            <a:ext cx="274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223864" y="1691640"/>
            <a:ext cx="2581580" cy="3200400"/>
          </a:xfrm>
          <a:prstGeom prst="roundRect">
            <a:avLst>
              <a:gd name="adj" fmla="val 212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1920240"/>
            <a:ext cx="2215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&amp; COMMENT 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6744" y="2331720"/>
            <a:ext cx="2215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6744" y="2971800"/>
            <a:ext cx="22158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créneau + canal (Push, SMS, Email, Agence)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87155" y="1691640"/>
            <a:ext cx="274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061475" y="1691640"/>
            <a:ext cx="2581580" cy="3200400"/>
          </a:xfrm>
          <a:prstGeom prst="roundRect">
            <a:avLst>
              <a:gd name="adj" fmla="val 2125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44355" y="1920240"/>
            <a:ext cx="2215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44355" y="2331720"/>
            <a:ext cx="2215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Protéger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44355" y="2971800"/>
            <a:ext cx="22158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CNDP, surendettement (BAM) et sur-pression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une décision marketing n'est restituée que si elle a franchi les trois garde-fous. La conformité n'est pas un contrôle a posteriori, c'est une condition d'émission.</a:t>
            </a:r>
            <a:endParaRPr lang="en-US" sz="1250" dirty="0"/>
          </a:p>
        </p:txBody>
      </p:sp>
      <p:pic>
        <p:nvPicPr>
          <p:cNvPr id="24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nuit, un cycle automatique de bout en bout — sans intervention humaine, prêt pour la journée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57949" cy="2743200"/>
          </a:xfrm>
          <a:prstGeom prst="roundRect">
            <a:avLst>
              <a:gd name="adj" fmla="val 2666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5006" y="2148840"/>
            <a:ext cx="585216" cy="585216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6" name="Text 4"/>
          <p:cNvSpPr/>
          <p:nvPr/>
        </p:nvSpPr>
        <p:spPr>
          <a:xfrm>
            <a:off x="1285006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875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3310128"/>
            <a:ext cx="17287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lit les données clients : profil, produits détenus, comportement, consentements.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88301" y="1920240"/>
            <a:ext cx="237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07757" y="1920240"/>
            <a:ext cx="2057949" cy="2743200"/>
          </a:xfrm>
          <a:prstGeom prst="roundRect">
            <a:avLst>
              <a:gd name="adj" fmla="val 2666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4123" y="2148840"/>
            <a:ext cx="585216" cy="585216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2" name="Text 10"/>
          <p:cNvSpPr/>
          <p:nvPr/>
        </p:nvSpPr>
        <p:spPr>
          <a:xfrm>
            <a:off x="3544123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99197" y="2880360"/>
            <a:ext cx="1875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Prédiction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972349" y="3310128"/>
            <a:ext cx="17287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évalue l'appétence de chaque client pour chaque produit et retient la meilleure offre.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7417" y="1920240"/>
            <a:ext cx="237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66873" y="1920240"/>
            <a:ext cx="2057949" cy="2743200"/>
          </a:xfrm>
          <a:prstGeom prst="roundRect">
            <a:avLst>
              <a:gd name="adj" fmla="val 2666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3240" y="2148840"/>
            <a:ext cx="585216" cy="585216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8" name="Text 16"/>
          <p:cNvSpPr/>
          <p:nvPr/>
        </p:nvSpPr>
        <p:spPr>
          <a:xfrm>
            <a:off x="5803240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58313" y="2880360"/>
            <a:ext cx="1875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231465" y="3310128"/>
            <a:ext cx="17287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choisit le canal et le meilleur moment de contact, avec repli automatique si besoin.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06534" y="1920240"/>
            <a:ext cx="237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25990" y="1920240"/>
            <a:ext cx="2057949" cy="2743200"/>
          </a:xfrm>
          <a:prstGeom prst="roundRect">
            <a:avLst>
              <a:gd name="adj" fmla="val 2666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62356" y="2148840"/>
            <a:ext cx="585216" cy="585216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24" name="Text 22"/>
          <p:cNvSpPr/>
          <p:nvPr/>
        </p:nvSpPr>
        <p:spPr>
          <a:xfrm>
            <a:off x="8062356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17430" y="2880360"/>
            <a:ext cx="1875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Conformité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490582" y="3310128"/>
            <a:ext cx="17287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écarte les clients non éligibles et justifie chaque exclusion.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65651" y="1920240"/>
            <a:ext cx="237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85107" y="1920240"/>
            <a:ext cx="2057949" cy="2743200"/>
          </a:xfrm>
          <a:prstGeom prst="roundRect">
            <a:avLst>
              <a:gd name="adj" fmla="val 2666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21473" y="2148840"/>
            <a:ext cx="585216" cy="585216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30" name="Text 28"/>
          <p:cNvSpPr/>
          <p:nvPr/>
        </p:nvSpPr>
        <p:spPr>
          <a:xfrm>
            <a:off x="10321473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76547" y="2880360"/>
            <a:ext cx="1875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Restitution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749699" y="3310128"/>
            <a:ext cx="172876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écrit les recommandations dans la base Marketing Automation, prêtes à déclencher les campagnes.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: quotidienne (batch nocturne) · Aucune donnée personnelle n'est transmise à un service externe · Résultat disponible avant l'ouverture des agences.</a:t>
            </a:r>
            <a:endParaRPr lang="en-US" sz="1150" dirty="0"/>
          </a:p>
        </p:txBody>
      </p:sp>
      <p:pic>
        <p:nvPicPr>
          <p:cNvPr id="34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QUI CIBLER ?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score de propension classe les clients par probabilité d'adhésion — on parle d'abord à ceux qui écouteront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43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principe
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client et chaque produit, l'agent calcule un score de 0 à 1 : la probabilité d'intérêt.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s'appuie sur le profil, l'ancienneté, les revenus, l'usage digital et l'historique relationnel.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les clients au-dessus d'un seuil de pertinence sont retenus pour une campagne.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78728" y="160020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— classement pour l'offre « Crédit Conso »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965960"/>
          <a:ext cx="5364328" cy="914400"/>
        </p:xfrm>
        <a:graphic>
          <a:graphicData uri="http://schemas.openxmlformats.org/drawingml/2006/table">
            <a:tbl>
              <a:tblPr/>
              <a:tblGrid>
                <a:gridCol w="2038444"/>
                <a:gridCol w="1180152"/>
                <a:gridCol w="2145731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Aïcha 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 prioritaire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Karim 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Yassine 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veille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Salma 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ciblée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6278728" y="4160520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illustratifs.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le budget de campagne se concentre là où il convertit, au lieu d'être dilué sur toute la base.</a:t>
            </a:r>
            <a:endParaRPr lang="en-US" sz="1250" dirty="0"/>
          </a:p>
        </p:txBody>
      </p:sp>
      <p:pic>
        <p:nvPicPr>
          <p:cNvPr id="9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· QUOI PROPOSER ?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Next Best Action choisit, parmi toutes les offres, celle qui a le plus de sens pour ce client précis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43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« une offre pour tous » à « la bonne offre pour chacun »
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compare les scores de tous les produits candidats pour un même client.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retient l'offre à la plus forte appétence : c'est le Next Best Action (NBA).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logique évite la cannibalisation et la sur-offre : un client = une meilleure action à un instant donné.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78728" y="16459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07328" y="18288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— Karim, 34 ans, client depuis 6 ans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07328" y="2286000"/>
            <a:ext cx="2253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Épargne Livret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0891" y="2377440"/>
            <a:ext cx="1716585" cy="219456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8960891" y="2377440"/>
            <a:ext cx="720966" cy="219456"/>
          </a:xfrm>
          <a:prstGeom prst="roundRect">
            <a:avLst>
              <a:gd name="adj" fmla="val 12500"/>
            </a:avLst>
          </a:prstGeom>
          <a:solidFill>
            <a:srgbClr val="003B71"/>
          </a:solidFill>
          <a:ln/>
        </p:spPr>
      </p:sp>
      <p:sp>
        <p:nvSpPr>
          <p:cNvPr id="10" name="Text 8"/>
          <p:cNvSpPr/>
          <p:nvPr/>
        </p:nvSpPr>
        <p:spPr>
          <a:xfrm>
            <a:off x="10750628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07328" y="2788920"/>
            <a:ext cx="2253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Gold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0891" y="2880360"/>
            <a:ext cx="1716585" cy="219456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8960891" y="2880360"/>
            <a:ext cx="1132946" cy="219456"/>
          </a:xfrm>
          <a:prstGeom prst="roundRect">
            <a:avLst>
              <a:gd name="adj" fmla="val 12500"/>
            </a:avLst>
          </a:prstGeom>
          <a:solidFill>
            <a:srgbClr val="003B71"/>
          </a:solidFill>
          <a:ln/>
        </p:spPr>
      </p:sp>
      <p:sp>
        <p:nvSpPr>
          <p:cNvPr id="14" name="Text 12"/>
          <p:cNvSpPr/>
          <p:nvPr/>
        </p:nvSpPr>
        <p:spPr>
          <a:xfrm>
            <a:off x="10750628" y="2788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07328" y="3291840"/>
            <a:ext cx="2253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 Conso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0891" y="3383280"/>
            <a:ext cx="1716585" cy="219456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0891" y="3383280"/>
            <a:ext cx="1390434" cy="219456"/>
          </a:xfrm>
          <a:prstGeom prst="roundRect">
            <a:avLst>
              <a:gd name="adj" fmla="val 12500"/>
            </a:avLst>
          </a:prstGeom>
          <a:solidFill>
            <a:srgbClr val="BD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10750628" y="3291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07328" y="3794760"/>
            <a:ext cx="2253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Vie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60891" y="3886200"/>
            <a:ext cx="1716585" cy="219456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960891" y="3886200"/>
            <a:ext cx="497810" cy="219456"/>
          </a:xfrm>
          <a:prstGeom prst="roundRect">
            <a:avLst>
              <a:gd name="adj" fmla="val 12500"/>
            </a:avLst>
          </a:prstGeom>
          <a:solidFill>
            <a:srgbClr val="003B71"/>
          </a:solidFill>
          <a:ln/>
        </p:spPr>
      </p:sp>
      <p:sp>
        <p:nvSpPr>
          <p:cNvPr id="22" name="Text 20"/>
          <p:cNvSpPr/>
          <p:nvPr/>
        </p:nvSpPr>
        <p:spPr>
          <a:xfrm>
            <a:off x="10750628" y="3794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07328" y="438912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Best Action retenu : Crédit Conso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chaque contact porte l'offre la plus susceptible d'aboutir — la pertinence perçue par le client augmente, la lassitude baisse.</a:t>
            </a:r>
            <a:endParaRPr lang="en-US" sz="1250" dirty="0"/>
          </a:p>
        </p:txBody>
      </p:sp>
      <p:pic>
        <p:nvPicPr>
          <p:cNvPr id="25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· QUAND &amp; COMMENT ?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bon message au bon moment, sur le canal où le client répond — avec un repli automatique si le canal échoue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— Send Time Optimization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49071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apprend le créneau où chaque client ouvre et réagit : matin, après-midi ou soirée.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choisit aussi le meilleur jour de la semaine.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défaut d'historique, il affecte un profil comportemental par défaut.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6459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7328" y="18288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— Routing multi-canal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07328" y="2331720"/>
            <a:ext cx="1135342" cy="457200"/>
          </a:xfrm>
          <a:prstGeom prst="roundRect">
            <a:avLst>
              <a:gd name="adj" fmla="val 10000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2331720"/>
            <a:ext cx="11353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34110" y="2331720"/>
            <a:ext cx="1135342" cy="457200"/>
          </a:xfrm>
          <a:prstGeom prst="roundRect">
            <a:avLst>
              <a:gd name="adj" fmla="val 10000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34110" y="2331720"/>
            <a:ext cx="11353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0891" y="2331720"/>
            <a:ext cx="1135342" cy="457200"/>
          </a:xfrm>
          <a:prstGeom prst="roundRect">
            <a:avLst>
              <a:gd name="adj" fmla="val 10000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0891" y="2331720"/>
            <a:ext cx="11353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187673" y="2331720"/>
            <a:ext cx="1135342" cy="457200"/>
          </a:xfrm>
          <a:prstGeom prst="roundRect">
            <a:avLst>
              <a:gd name="adj" fmla="val 10000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87673" y="2331720"/>
            <a:ext cx="11353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Agence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07328" y="2926080"/>
            <a:ext cx="4907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canal est choisi selon le produit et les préférences du client.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 automatique : si le jeton Push est invalide, l'agent bascule sur SMS, puis Email.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produits de crédit sont routés vers l'agence pour un conseil humain.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moins de messages ignorés, plus de taux d'ouverture et de réponse — et jamais de contact perdu faute de canal valide.</a:t>
            </a:r>
            <a:endParaRPr lang="en-US" sz="1250" dirty="0"/>
          </a:p>
        </p:txBody>
      </p:sp>
      <p:pic>
        <p:nvPicPr>
          <p:cNvPr id="19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· SÉCURITÉ &amp; CONFORMITÉ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garde-fous réglementaires s'appliquent avant toute restitution — un client non conforme n'est jamais sollicité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5258" cy="3108960"/>
          </a:xfrm>
          <a:prstGeom prst="roundRect">
            <a:avLst>
              <a:gd name="adj" fmla="val 176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Consentement — CNDP / RGPD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opt-in valide, le client est exclu.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2966618" cy="384048"/>
          </a:xfrm>
          <a:prstGeom prst="roundRect">
            <a:avLst>
              <a:gd name="adj" fmla="val 1190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06240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6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NO_CNDP_CONSENT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38218" y="1645920"/>
            <a:ext cx="3515258" cy="3108960"/>
          </a:xfrm>
          <a:prstGeom prst="roundRect">
            <a:avLst>
              <a:gd name="adj" fmla="val 176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2538" y="1874520"/>
            <a:ext cx="457200" cy="457200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461253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2538" y="24688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Surendettement — Bank Al-Maghrib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2538" y="31089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d'endettement &gt; seuil ou incident BAM sur un produit de crédit : exclu.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2538" y="4206240"/>
            <a:ext cx="2966618" cy="384048"/>
          </a:xfrm>
          <a:prstGeom prst="roundRect">
            <a:avLst>
              <a:gd name="adj" fmla="val 1190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2538" y="4206240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6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OVERINDEBTEDNESS_RISK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27797" y="1645920"/>
            <a:ext cx="3515258" cy="3108960"/>
          </a:xfrm>
          <a:prstGeom prst="roundRect">
            <a:avLst>
              <a:gd name="adj" fmla="val 176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02117" y="1874520"/>
            <a:ext cx="457200" cy="457200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20" name="Text 18"/>
          <p:cNvSpPr/>
          <p:nvPr/>
        </p:nvSpPr>
        <p:spPr>
          <a:xfrm>
            <a:off x="8402117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02117" y="24688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Pression commerciale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02117" y="310896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Sollicité il y a moins de 14 jours : exclu pour préserver la relation.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02117" y="4206240"/>
            <a:ext cx="2966618" cy="384048"/>
          </a:xfrm>
          <a:prstGeom prst="roundRect">
            <a:avLst>
              <a:gd name="adj" fmla="val 11905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02117" y="4206240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6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MAX_PRESSURE_REACHED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« fail-closed » : en cas de donnée manquante ou ambiguë, l'agent exclut par défaut. La prudence prime toujours sur la sollicitation.</a:t>
            </a:r>
            <a:endParaRPr lang="en-US" sz="1250" dirty="0"/>
          </a:p>
        </p:txBody>
      </p:sp>
      <p:pic>
        <p:nvPicPr>
          <p:cNvPr id="26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LE CAPOT · LES CRITÈRES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L'agent n'applique pas des règles figées : il apprend des données quels signaux prédisent réellement l'intérêt d'un client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43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critères prouvés par la donnée, pas devinés
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part d'un large ensemble de signaux : profil, revenus, ancienneté, produits détenus, comportement digital, historique relationnel.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mesure lesquels distinguent vraiment les clients qui adhèrent — et pondère chacun selon son pouvoir prédictif.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variables sans valeur ajoutée sont écartées ; les données manquantes sont traitées proprement.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poids des critères est propre à chaque produit : ce qui prédit un crédit diffère de ce qui prédit une épargne.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78728" y="1645920"/>
            <a:ext cx="5364328" cy="3383280"/>
          </a:xfrm>
          <a:prstGeom prst="roundRect">
            <a:avLst>
              <a:gd name="adj" fmla="val 162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07328" y="18288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des critères — exemple : appétence « Crédit Conso 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07328" y="2286000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&amp; stabilité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75465" y="2359152"/>
            <a:ext cx="1485506" cy="219456"/>
          </a:xfrm>
          <a:prstGeom prst="roundRect">
            <a:avLst>
              <a:gd name="adj" fmla="val 12500"/>
            </a:avLst>
          </a:prstGeom>
          <a:solidFill>
            <a:srgbClr val="BD9B3C"/>
          </a:solidFill>
          <a:ln/>
        </p:spPr>
      </p:sp>
      <p:sp>
        <p:nvSpPr>
          <p:cNvPr id="9" name="Text 7"/>
          <p:cNvSpPr/>
          <p:nvPr/>
        </p:nvSpPr>
        <p:spPr>
          <a:xfrm>
            <a:off x="10830483" y="2286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07328" y="2706624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Ancienneté de la relation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75465" y="2779776"/>
            <a:ext cx="1114130" cy="219456"/>
          </a:xfrm>
          <a:prstGeom prst="roundRect">
            <a:avLst>
              <a:gd name="adj" fmla="val 12500"/>
            </a:avLst>
          </a:prstGeom>
          <a:solidFill>
            <a:srgbClr val="003B7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30483" y="27066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07328" y="3127248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digital (app / web)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75465" y="3200400"/>
            <a:ext cx="928441" cy="219456"/>
          </a:xfrm>
          <a:prstGeom prst="roundRect">
            <a:avLst>
              <a:gd name="adj" fmla="val 12500"/>
            </a:avLst>
          </a:prstGeom>
          <a:solidFill>
            <a:srgbClr val="003B71"/>
          </a:solidFill>
          <a:ln/>
        </p:spPr>
      </p:sp>
      <p:sp>
        <p:nvSpPr>
          <p:cNvPr id="15" name="Text 13"/>
          <p:cNvSpPr/>
          <p:nvPr/>
        </p:nvSpPr>
        <p:spPr>
          <a:xfrm>
            <a:off x="10830483" y="31272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3547872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moyen du compte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75465" y="3621024"/>
            <a:ext cx="804649" cy="219456"/>
          </a:xfrm>
          <a:prstGeom prst="roundRect">
            <a:avLst>
              <a:gd name="adj" fmla="val 12500"/>
            </a:avLst>
          </a:prstGeom>
          <a:solidFill>
            <a:srgbClr val="003B71"/>
          </a:solidFill>
          <a:ln/>
        </p:spPr>
      </p:sp>
      <p:sp>
        <p:nvSpPr>
          <p:cNvPr id="18" name="Text 16"/>
          <p:cNvSpPr/>
          <p:nvPr/>
        </p:nvSpPr>
        <p:spPr>
          <a:xfrm>
            <a:off x="10830483" y="35478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07328" y="3968496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déjà détenus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75465" y="4041648"/>
            <a:ext cx="680857" cy="219456"/>
          </a:xfrm>
          <a:prstGeom prst="roundRect">
            <a:avLst>
              <a:gd name="adj" fmla="val 12500"/>
            </a:avLst>
          </a:prstGeom>
          <a:solidFill>
            <a:srgbClr val="003B71"/>
          </a:solidFill>
          <a:ln/>
        </p:spPr>
      </p:sp>
      <p:sp>
        <p:nvSpPr>
          <p:cNvPr id="21" name="Text 19"/>
          <p:cNvSpPr/>
          <p:nvPr/>
        </p:nvSpPr>
        <p:spPr>
          <a:xfrm>
            <a:off x="10830483" y="39684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07328" y="4389120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 sollicitation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75465" y="4462272"/>
            <a:ext cx="495169" cy="219456"/>
          </a:xfrm>
          <a:prstGeom prst="roundRect">
            <a:avLst>
              <a:gd name="adj" fmla="val 12500"/>
            </a:avLst>
          </a:prstGeom>
          <a:solidFill>
            <a:srgbClr val="003B71"/>
          </a:solidFill>
          <a:ln/>
        </p:spPr>
      </p:sp>
      <p:sp>
        <p:nvSpPr>
          <p:cNvPr id="24" name="Text 22"/>
          <p:cNvSpPr/>
          <p:nvPr/>
        </p:nvSpPr>
        <p:spPr>
          <a:xfrm>
            <a:off x="10830483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07328" y="475488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Pondérations illustratives — recalculées par l'agent sur les données réelles.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le ciblage repose sur les facteurs qui comptent vraiment — plus de précision, et des critères que l'on peut expliquer et auditer.</a:t>
            </a:r>
            <a:endParaRPr lang="en-US" sz="1250" dirty="0"/>
          </a:p>
        </p:txBody>
      </p:sp>
      <p:pic>
        <p:nvPicPr>
          <p:cNvPr id="27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LE CAPOT · MOMENT &amp; CANAL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moment et le canal sont déduits du comportement réel de chaque client — jamais laissés au hasard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MOMENT — quand contacter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9071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l'historique d'ouverture et de réaction, par jour et par créneau (matin / après-midi / soirée).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du moment où la probabilité de réaction est la plus forte pour ce client.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historique suffisant : rapprochement avec des profils similaires pour hériter de leur meilleur créneau.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6459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7328" y="18288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CANAL — comment contacter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07328" y="2286000"/>
            <a:ext cx="49071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préféré déduit du produit et des habitudes du client (app, mobile, email, agence).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 la joignabilité en temps réel : jeton push valide ? numéro mobile ? adresse email ?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 automatique en cascade : Push → SMS → Email ; les produits de crédit sont orientés vers l'agence.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chaque message tombe quand le client est réceptif, sur le canal qu'il utilise — taux d'ouverture et de réponse maximisés, aucun contact perdu.</a:t>
            </a:r>
            <a:endParaRPr lang="en-US" sz="1250" dirty="0"/>
          </a:p>
        </p:txBody>
      </p:sp>
      <p:pic>
        <p:nvPicPr>
          <p:cNvPr id="11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LE CAPOT · APPRENTISSAGE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moteur qui s'améliore en continu — chaque campagne nourrit le modèle et affine les décisions suivantes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7864" cy="2148840"/>
          </a:xfrm>
          <a:prstGeom prst="roundRect">
            <a:avLst>
              <a:gd name="adj" fmla="val 255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9964" y="2057400"/>
            <a:ext cx="585216" cy="585216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6" name="Text 4"/>
          <p:cNvSpPr/>
          <p:nvPr/>
        </p:nvSpPr>
        <p:spPr>
          <a:xfrm>
            <a:off x="1539964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38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Apprendre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3200400"/>
            <a:ext cx="223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est entraîné sur l'historique : qui a accepté quoi, quand et par quel canal.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98216" y="1828800"/>
            <a:ext cx="3108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90824" y="1828800"/>
            <a:ext cx="2567864" cy="2148840"/>
          </a:xfrm>
          <a:prstGeom prst="roundRect">
            <a:avLst>
              <a:gd name="adj" fmla="val 255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2148" y="2057400"/>
            <a:ext cx="585216" cy="585216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2" name="Text 10"/>
          <p:cNvSpPr/>
          <p:nvPr/>
        </p:nvSpPr>
        <p:spPr>
          <a:xfrm>
            <a:off x="4382148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82264" y="2788920"/>
            <a:ext cx="238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55416" y="3200400"/>
            <a:ext cx="223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produit chaque nuit les recommandations du jour, prêtes à activer.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0400" y="1828800"/>
            <a:ext cx="3108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33008" y="1828800"/>
            <a:ext cx="2567864" cy="2148840"/>
          </a:xfrm>
          <a:prstGeom prst="roundRect">
            <a:avLst>
              <a:gd name="adj" fmla="val 255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4332" y="2057400"/>
            <a:ext cx="585216" cy="585216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8" name="Text 16"/>
          <p:cNvSpPr/>
          <p:nvPr/>
        </p:nvSpPr>
        <p:spPr>
          <a:xfrm>
            <a:off x="7224332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24448" y="2788920"/>
            <a:ext cx="238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97600" y="3200400"/>
            <a:ext cx="223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réels — ouverture, clic, souscription, refus — sont collectés.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82583" y="1828800"/>
            <a:ext cx="31089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75191" y="1828800"/>
            <a:ext cx="2567864" cy="2148840"/>
          </a:xfrm>
          <a:prstGeom prst="roundRect">
            <a:avLst>
              <a:gd name="adj" fmla="val 255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66515" y="2057400"/>
            <a:ext cx="585216" cy="585216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24" name="Text 22"/>
          <p:cNvSpPr/>
          <p:nvPr/>
        </p:nvSpPr>
        <p:spPr>
          <a:xfrm>
            <a:off x="10066515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66631" y="2788920"/>
            <a:ext cx="2384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S'ajuster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39783" y="3200400"/>
            <a:ext cx="223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retours ré-entraînent le modèle ; chaque nouvelle version est testée avant mise en production.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32572" y="4343400"/>
            <a:ext cx="8526551" cy="0"/>
          </a:xfrm>
          <a:prstGeom prst="line">
            <a:avLst/>
          </a:prstGeom>
          <a:noFill/>
          <a:ln w="19050">
            <a:solidFill>
              <a:srgbClr val="BD9B3C"/>
            </a:solidFill>
            <a:prstDash val="dash"/>
            <a:headEnd type="triangle"/>
          </a:ln>
        </p:spPr>
      </p:sp>
      <p:sp>
        <p:nvSpPr>
          <p:cNvPr id="28" name="Text 26"/>
          <p:cNvSpPr/>
          <p:nvPr/>
        </p:nvSpPr>
        <p:spPr>
          <a:xfrm>
            <a:off x="548640" y="440740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se referme — les résultats réels réalimentent l'apprentissage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98348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9834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 dispositif tourne, plus il gagne en précision — sous supervision humaine, avec des versions tracées et comparées (aucune dégradation silencieuse).</a:t>
            </a:r>
            <a:endParaRPr lang="en-US" sz="1250" dirty="0"/>
          </a:p>
        </p:txBody>
      </p:sp>
      <p:pic>
        <p:nvPicPr>
          <p:cNvPr id="31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&amp; EXPLICABILITÉ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recommandation est justifiable — l'agent explique pourquoi il propose telle offre à tel client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43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IA qui rend des comptes
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score, l'agent identifie les facteurs qui l'ont le plus influencé (technologie SHAP).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équipes marketing et conformité disposent d'une justification lisible, pas d'une boîte noire.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exclusion porte un motif explicite, exploitable en cas de contrôle ou de réclamation.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78728" y="1645920"/>
            <a:ext cx="536432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07328" y="18288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Aïcha est ciblée pour le Crédit Conso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07328" y="2286000"/>
            <a:ext cx="26821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stables et en hausse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282751" y="2368296"/>
            <a:ext cx="1544926" cy="237744"/>
          </a:xfrm>
          <a:prstGeom prst="roundRect">
            <a:avLst>
              <a:gd name="adj" fmla="val 11538"/>
            </a:avLst>
          </a:prstGeom>
          <a:solidFill>
            <a:srgbClr val="003B71"/>
          </a:solidFill>
          <a:ln/>
        </p:spPr>
      </p:sp>
      <p:sp>
        <p:nvSpPr>
          <p:cNvPr id="9" name="Text 7"/>
          <p:cNvSpPr/>
          <p:nvPr/>
        </p:nvSpPr>
        <p:spPr>
          <a:xfrm>
            <a:off x="11045056" y="22860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07328" y="2834640"/>
            <a:ext cx="26821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Ancienneté &gt; 5 ans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282751" y="2916936"/>
            <a:ext cx="1029951" cy="237744"/>
          </a:xfrm>
          <a:prstGeom prst="roundRect">
            <a:avLst>
              <a:gd name="adj" fmla="val 11538"/>
            </a:avLst>
          </a:prstGeom>
          <a:solidFill>
            <a:srgbClr val="003B71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5056" y="28346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07328" y="3383280"/>
            <a:ext cx="26821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digital élevé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282751" y="3465576"/>
            <a:ext cx="858292" cy="237744"/>
          </a:xfrm>
          <a:prstGeom prst="roundRect">
            <a:avLst>
              <a:gd name="adj" fmla="val 11538"/>
            </a:avLst>
          </a:prstGeom>
          <a:solidFill>
            <a:srgbClr val="003B71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5056" y="33832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07328" y="3931920"/>
            <a:ext cx="26821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Endettement modéré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282751" y="4014216"/>
            <a:ext cx="600805" cy="237744"/>
          </a:xfrm>
          <a:prstGeom prst="roundRect">
            <a:avLst>
              <a:gd name="adj" fmla="val 11538"/>
            </a:avLst>
          </a:prstGeom>
          <a:solidFill>
            <a:srgbClr val="BD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5056" y="39319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07328" y="452628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illustratifs, ordonnés par contribution au score.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l'explicabilité est le socle de l'adoption métier et de la défense réglementaire — on déploie une décision qu'on sait justifier.</a:t>
            </a:r>
            <a:endParaRPr lang="en-US" sz="1250" dirty="0"/>
          </a:p>
        </p:txBody>
      </p:sp>
      <p:pic>
        <p:nvPicPr>
          <p:cNvPr id="21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FONCTIONNELLE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chaîne modulaire, 100% interne à la banque — les données clients ne quittent jamais le système d'information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E8F0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de données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06240" y="1600200"/>
            <a:ext cx="7162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clients, produits, comportements, consentements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12968" y="2240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231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Moteur de décision 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2423160"/>
            <a:ext cx="7162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Propension · Next Best Action · Timing · Routing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12968" y="3063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BD9B3C"/>
          </a:solidFill>
          <a:ln w="12700">
            <a:solidFill>
              <a:srgbClr val="BD9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461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Filtre de conformité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3246120"/>
            <a:ext cx="7162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CNDP · Bank Al-Maghrib · Anti-pression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12968" y="3886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E8F0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69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Marketing Automation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4069080"/>
            <a:ext cx="7162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 restitution des recommandations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12968" y="4709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892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des campagnes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4892040"/>
            <a:ext cx="71624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· SMS · Email · CRM Agence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on-premise / cloud privé · Aucun envoi de données personnelles vers une API tierce externe.</a:t>
            </a:r>
            <a:endParaRPr lang="en-US" sz="1100" dirty="0"/>
          </a:p>
        </p:txBody>
      </p:sp>
      <p:pic>
        <p:nvPicPr>
          <p:cNvPr id="24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passage d'un marketing calendaire et uniforme à une relance individualisée, pilotée par la donnée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4328" cy="3383280"/>
          </a:xfrm>
          <a:prstGeom prst="roundRect">
            <a:avLst>
              <a:gd name="adj" fmla="val 1622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156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 de masse au calendrier fixe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offre poussée à des segments larges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et horaire uniformes pour tous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vérifiée manuellement, après coup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justification du ciblage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645920"/>
            <a:ext cx="5364328" cy="3383280"/>
          </a:xfrm>
          <a:prstGeom prst="roundRect">
            <a:avLst>
              <a:gd name="adj" fmla="val 1622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3048" y="18288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L'AGENT 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53048" y="2286000"/>
            <a:ext cx="48156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 déclenchée par l'appétence réelle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offre individualisée (NBA)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et moment optimisés par client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appliquée avant émission (fail-closed)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décision est explicable et tracée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la même base clients génère plus de valeur, avec moins de pression et un risque réglementaire maîtrisé.</a:t>
            </a:r>
            <a:endParaRPr lang="en-US" sz="1250" dirty="0"/>
          </a:p>
        </p:txBody>
      </p:sp>
      <p:pic>
        <p:nvPicPr>
          <p:cNvPr id="11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DES CAS D'USAGE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même moteur, une variété de situations métier — chaque signal client déclenche l'action la plus pertinente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429000"/>
                <a:gridCol w="2514600"/>
                <a:gridCol w="1234440"/>
                <a:gridCol w="1950415"/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 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Déclencheur (signal détecté)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Offre proposée (NBA)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visé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Épargne dormante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Excédent de trésorerie stable &gt; 3 mois de charges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Placement / épargne rémunérée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Encours collectés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carte intensif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 mensuels élevés sur une carte d'entrée de gamme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Montée en gamme carte premium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d'équipement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 de financement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de crédit sur l'app + dépenses récurrentes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 conso pré-approuvé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transformation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Désengagement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Baisse d'activité + virement sortant récurrent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Offre de rétention personnalisée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 agence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rétention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dormant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opération depuis 6 mois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Réactivation ciblée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/ SMS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réactivation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 réglementaire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Endettement &gt; seuil BAM ou absence de consentement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sollicitation (exclusion)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 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pages suivantes détaillent un cas de chaque grande famille : équipement, financement et rétention. Situations et signaux illustratifs.</a:t>
            </a:r>
            <a:endParaRPr lang="en-US" sz="1100" dirty="0"/>
          </a:p>
        </p:txBody>
      </p:sp>
      <p:pic>
        <p:nvPicPr>
          <p:cNvPr id="6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1 · ÉQUIPEMENT &amp; MONTÉE EN GAMME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épargne qui dort devient un placement — l'excédent de trésorerie détecté déclenche la bonne offre au bon moment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 </a:t>
            </a:r>
            <a:r>
              <a:rPr lang="en-US" sz="12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Nadia, 41 ans, salariée, cliente depuis 9 ans — solde courant qui s'accumule, aucun produit d'épargne rémunéré.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BD9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51176"/>
            <a:ext cx="182880" cy="182880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286000"/>
            <a:ext cx="10225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  </a:t>
            </a:r>
            <a:r>
              <a:rPr lang="en-US" sz="1250" b="1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Excédent de trésorerie stable, supérieur à 3 mois de charges, non placé depuis plusieurs mois.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CIBLER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d'appétence Épargne = 0,84 : cible prioritaire.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3080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72536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37128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 PROPOSER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37128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: compte épargne rémunéré / placement adapté au profil.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76976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96432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61024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&amp; COMMENT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61024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Créneau soirée, Push App — Nadia est très active sur mobile.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00871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020327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84919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84919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 CNDP actif, aucune sur-sollicitation → éligible.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93776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 </a:t>
            </a:r>
            <a:r>
              <a:rPr lang="en-US" sz="12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Nadia place son excédent en quelques clics, sans passer en agence.</a:t>
            </a:r>
            <a:r>
              <a:rPr lang="en-US" sz="1100" i="1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KPI de succès : encours d'épargne collectés &amp; taux d'équipement.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7424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Persona, signaux et chiffres illustratifs — cibles à calibrer sur les données de la banque.</a:t>
            </a:r>
            <a:endParaRPr lang="en-US" sz="900" dirty="0"/>
          </a:p>
        </p:txBody>
      </p:sp>
      <p:pic>
        <p:nvPicPr>
          <p:cNvPr id="27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2 · CRÉDIT PRÉ-APPROUVÉ SUR DÉCLENCHEUR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financement arrive avant la demande — une offre pré-approuvée, calibrée, et sous contrôle strict du risque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 </a:t>
            </a:r>
            <a:r>
              <a:rPr lang="en-US" sz="12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Youssef, 36 ans, revenus réguliers, historique de remboursement sain, endettement modéré.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BD9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51176"/>
            <a:ext cx="182880" cy="182880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286000"/>
            <a:ext cx="10225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  </a:t>
            </a:r>
            <a:r>
              <a:rPr lang="en-US" sz="1250" b="1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 crédit consultée sur l'app + dépenses d'équipement récurrentes détectées.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CIBLER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Crédit Conso = 0,79 : cible qualifiée.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3080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72536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37128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 PROPOSER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37128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: crédit conso pré-approuvé, montant calibré sur la capacité de remboursement.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76976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96432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61024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&amp; COMMENT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61024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agence : rendez-vous conseiller + notification de rappel.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00871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020327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84919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84919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Endettement &lt; seuil BAM, aucun incident, consentement OK → éligible.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93776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 </a:t>
            </a:r>
            <a:r>
              <a:rPr lang="en-US" sz="12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offre pertinente portée par un conseiller — pas un SMS générique.</a:t>
            </a:r>
            <a:r>
              <a:rPr lang="en-US" sz="1100" i="1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KPI de succès : taux de transformation &amp; délai de mise en place.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7424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Persona, signaux et chiffres illustratifs — cibles à calibrer sur les données de la banque.</a:t>
            </a:r>
            <a:endParaRPr lang="en-US" sz="900" dirty="0"/>
          </a:p>
        </p:txBody>
      </p:sp>
      <p:pic>
        <p:nvPicPr>
          <p:cNvPr id="27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3 · ANTI-ATTRITION &amp; RÉACTIVATION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Retenir avant de perdre — les signaux de désengagement déclenchent une relance de rétention, sans pression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 </a:t>
            </a:r>
            <a:r>
              <a:rPr lang="en-US" sz="125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Leïla, 47 ans, cliente premium — activité en baisse et virement sortant récurrent vers une autre banque.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BD9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51176"/>
            <a:ext cx="182880" cy="182880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286000"/>
            <a:ext cx="10225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   </a:t>
            </a:r>
            <a:r>
              <a:rPr lang="en-US" sz="1250" b="1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d'attrition en forte hausse : chute des transactions et flux sortant régulier.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CIBLER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3232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d'attrition élevé : priorité à la rétention.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3080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72536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37128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 PROPOSER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37128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: offre de fidélisation personnalisée + prise de contact conseiller.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76976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96432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61024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&amp; COMMENT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61024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agence (relation premium) + email de suivi personnalisé.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00871" y="3154680"/>
            <a:ext cx="23774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020327" y="3154680"/>
            <a:ext cx="2622728" cy="1572768"/>
          </a:xfrm>
          <a:prstGeom prst="roundRect">
            <a:avLst>
              <a:gd name="adj" fmla="val 348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84919" y="3291840"/>
            <a:ext cx="2293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84919" y="3675888"/>
            <a:ext cx="2293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récent vérifié : pas de sur-pression → éligible.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11094415" cy="713232"/>
          </a:xfrm>
          <a:prstGeom prst="roundRect">
            <a:avLst>
              <a:gd name="adj" fmla="val 7692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93776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  </a:t>
            </a:r>
            <a:r>
              <a:rPr lang="en-US" sz="125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conseiller reprend contact avant le départ, avec une proposition adaptée.</a:t>
            </a:r>
            <a:r>
              <a:rPr lang="en-US" sz="1100" i="1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KPI de succès : taux de rétention &amp; encours préservés.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7424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Persona, signaux et chiffres illustratifs — cibles à calibrer sur les données de la banque.</a:t>
            </a:r>
            <a:endParaRPr lang="en-US" sz="900" dirty="0"/>
          </a:p>
        </p:txBody>
      </p:sp>
      <p:pic>
        <p:nvPicPr>
          <p:cNvPr id="27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APPORTS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bénéfices, un seul dispositif — performance, expérience, conformité et efficacité opérationnelle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7188" cy="169164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commerciale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Ciblage par appétence + meilleure offre : taux de conversion et rendement des campagnes en hausse.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87188" cy="169164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0188" y="201168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1" name="Text 9"/>
          <p:cNvSpPr/>
          <p:nvPr/>
        </p:nvSpPr>
        <p:spPr>
          <a:xfrm>
            <a:off x="653018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15988" y="196596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Expérience client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15988" y="24688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sollicitations inutiles, plus de pertinence : la relation se renforce, l'attrition recule.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87188" cy="169164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BD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93192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Conformité maîtrisée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43484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CNDP et BAM appliqués avant émission, exclusions tracées : le risque réglementaire est contenu.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55868" y="3657600"/>
            <a:ext cx="5387188" cy="1691640"/>
          </a:xfrm>
          <a:prstGeom prst="roundRect">
            <a:avLst>
              <a:gd name="adj" fmla="val 3243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0188" y="397764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21" name="Text 19"/>
          <p:cNvSpPr/>
          <p:nvPr/>
        </p:nvSpPr>
        <p:spPr>
          <a:xfrm>
            <a:off x="6530188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15988" y="393192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Efficacité opérationnelle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15988" y="443484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nocturne complète : les équipes pilotent, l'agent exécute.</a:t>
            </a:r>
            <a:endParaRPr lang="en-US" sz="1150" dirty="0"/>
          </a:p>
        </p:txBody>
      </p:sp>
      <p:pic>
        <p:nvPicPr>
          <p:cNvPr id="24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ATTENDU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ordres de grandeur observés sur ce type de dispositif — à calibrer avec les données de la banque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5258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D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 à 30%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taux de conversion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campagnes de masse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38218" y="1645920"/>
            <a:ext cx="3515258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38218" y="178308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D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−20 à 40%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75378" y="242316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pression commerciale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1098" y="278892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sollicitations non pertinentes évitées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27797" y="1645920"/>
            <a:ext cx="3515258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27797" y="178308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D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64957" y="242316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envois filtrés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10677" y="278892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CNDP &amp; BAM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— taux de conversion par campagne (base 100 = masse)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3794760"/>
          <a:ext cx="11094415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de cadrage, non contractuelles — à valider par un test A/B sur un périmètre pilote avant généralisation.</a:t>
            </a:r>
            <a:endParaRPr lang="en-US" sz="1000" dirty="0"/>
          </a:p>
        </p:txBody>
      </p:sp>
      <p:pic>
        <p:nvPicPr>
          <p:cNvPr id="19" name="Image 0" descr="assets/stratawi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familles d'indicateurs pour mesurer la valeur — et prouver l'impact, axe par axe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5059375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 clé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qu'il mesure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conversion par campagne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Efficacité du score de propension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Offre (NBA)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d'acceptation de l'offre recommandée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Pertinence de la meilleure 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d'ouverture / réponse par canal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Qualité du timing et du 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Expérience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désabonnement / plaintes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 de la maîtrise de la pression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des envois filtrés + exclusions tracées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Robustesse des garde-fous CNDP/BAM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axe porte un indicateur mesurable dès le pilote — la cible chiffrée est calibrée en phase de cadrage.</a:t>
            </a:r>
            <a:endParaRPr lang="en-US" sz="1200" dirty="0"/>
          </a:p>
        </p:txBody>
      </p:sp>
      <p:pic>
        <p:nvPicPr>
          <p:cNvPr id="6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&amp; MAÎTRISE DES RISQUES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dispositif conçu pour être auditable, supervisé et réversible — la confiance avant l'échelle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Souveraineté des données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404872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on-premise : aucune donnée personnelle ne sort du SI de la banque.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38218" y="169164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6818" y="18745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Traçabilité complète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66818" y="2404872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décision et chaque exclusion sont horodatées, motivées et versionnées.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27797" y="169164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6397" y="18745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 humaine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56397" y="2404872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équipes valident les règles et gardent la main : l'agent propose, la banque dispose.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490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Modèles versionnés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4279392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campagne est rattachée à une version de modèle, pour audit et retour arrière.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38218" y="356616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6818" y="37490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Prudence par défaut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66818" y="4279392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doute ou de donnée manquante, l'agent exclut (fail-closed).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27797" y="356616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6397" y="374904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Explicabilité intégrée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56397" y="4279392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score est justifié par ses facteurs — pas de boîte noire.</a:t>
            </a:r>
            <a:endParaRPr lang="en-US" sz="1100" dirty="0"/>
          </a:p>
        </p:txBody>
      </p:sp>
      <p:pic>
        <p:nvPicPr>
          <p:cNvPr id="22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L'agent se branche sur l'existant sans le remplacer — il alimente le Marketing Automation, il ne s'y substitue pas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643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ajout, pas une refonte
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écrit ses recommandations dans une table dédiée de la base Marketing Automation.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campagnes existantes lisent cette table pour cibler, choisir l'offre, le canal et le moment.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temps réel permet au CRM agence de récupérer une recommandation à la demande.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changement d'outil pour les équipes : la valeur arrive dans leur environnement actuel.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78728" y="1737360"/>
            <a:ext cx="5364328" cy="685800"/>
          </a:xfrm>
          <a:prstGeom prst="roundRect">
            <a:avLst>
              <a:gd name="adj" fmla="val 8000"/>
            </a:avLst>
          </a:prstGeom>
          <a:solidFill>
            <a:srgbClr val="003B71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78728" y="173736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011" y="24048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78728" y="2606040"/>
            <a:ext cx="5364328" cy="68580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78728" y="260604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 recommandations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011" y="32735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8728" y="3474720"/>
            <a:ext cx="5364328" cy="6858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8728" y="347472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Automation &amp; CRM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011" y="4142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8728" y="4343400"/>
            <a:ext cx="5364328" cy="685800"/>
          </a:xfrm>
          <a:prstGeom prst="roundRect">
            <a:avLst>
              <a:gd name="adj" fmla="val 8000"/>
            </a:avLst>
          </a:prstGeom>
          <a:solidFill>
            <a:srgbClr val="BD9B3C"/>
          </a:solidFill>
          <a:ln w="12700">
            <a:solidFill>
              <a:srgbClr val="BD9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8728" y="434340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(bon canal, bon moment)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: le temps de mise en valeur est court — on capitalise sur les investissements marketing déjà réalisés.</a:t>
            </a:r>
            <a:endParaRPr lang="en-US" sz="1250" dirty="0"/>
          </a:p>
        </p:txBody>
      </p:sp>
      <p:pic>
        <p:nvPicPr>
          <p:cNvPr id="17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DE DÉPLOIEMENT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montée en charge progressive et sécurisée — prouver la valeur sur un pilote avant de généraliser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2154" cy="2743200"/>
          </a:xfrm>
          <a:prstGeom prst="roundRect">
            <a:avLst>
              <a:gd name="adj" fmla="val 210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1168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23639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des produits pilotes, calibrage des seuils, accès aux données.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2236394" cy="320040"/>
          </a:xfrm>
          <a:prstGeom prst="roundRect">
            <a:avLst>
              <a:gd name="adj" fmla="val 14286"/>
            </a:avLst>
          </a:prstGeom>
          <a:solidFill>
            <a:srgbClr val="003B7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16052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sem.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32506" y="1828800"/>
            <a:ext cx="265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79394" y="1828800"/>
            <a:ext cx="2602154" cy="2743200"/>
          </a:xfrm>
          <a:prstGeom prst="roundRect">
            <a:avLst>
              <a:gd name="adj" fmla="val 2108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2274" y="201168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62274" y="233172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2274" y="2880360"/>
            <a:ext cx="223639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sur un périmètre restreint + test A/B contre les campagnes actuelles.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62274" y="4160520"/>
            <a:ext cx="2236394" cy="320040"/>
          </a:xfrm>
          <a:prstGeom prst="roundRect">
            <a:avLst>
              <a:gd name="adj" fmla="val 14286"/>
            </a:avLst>
          </a:prstGeom>
          <a:solidFill>
            <a:srgbClr val="003B71"/>
          </a:solidFill>
          <a:ln/>
        </p:spPr>
      </p:sp>
      <p:sp>
        <p:nvSpPr>
          <p:cNvPr id="16" name="Text 14"/>
          <p:cNvSpPr/>
          <p:nvPr/>
        </p:nvSpPr>
        <p:spPr>
          <a:xfrm>
            <a:off x="3562274" y="416052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sem.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63260" y="1828800"/>
            <a:ext cx="265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0148" y="1828800"/>
            <a:ext cx="2602154" cy="2743200"/>
          </a:xfrm>
          <a:prstGeom prst="roundRect">
            <a:avLst>
              <a:gd name="adj" fmla="val 210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93028" y="201168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93028" y="233172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Industrialisation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93028" y="2880360"/>
            <a:ext cx="223639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nocturne complète, supervision et tableaux de bord.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93028" y="4160520"/>
            <a:ext cx="2236394" cy="320040"/>
          </a:xfrm>
          <a:prstGeom prst="roundRect">
            <a:avLst>
              <a:gd name="adj" fmla="val 14286"/>
            </a:avLst>
          </a:prstGeom>
          <a:solidFill>
            <a:srgbClr val="003B71"/>
          </a:solidFill>
          <a:ln/>
        </p:spPr>
      </p:sp>
      <p:sp>
        <p:nvSpPr>
          <p:cNvPr id="23" name="Text 21"/>
          <p:cNvSpPr/>
          <p:nvPr/>
        </p:nvSpPr>
        <p:spPr>
          <a:xfrm>
            <a:off x="6393028" y="416052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sem.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94013" y="1828800"/>
            <a:ext cx="265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40901" y="1828800"/>
            <a:ext cx="2602154" cy="2743200"/>
          </a:xfrm>
          <a:prstGeom prst="roundRect">
            <a:avLst>
              <a:gd name="adj" fmla="val 210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223781" y="201168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23781" y="2331720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Passage à l'échelle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23781" y="2880360"/>
            <a:ext cx="223639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à l'ensemble des produits et canaux, amélioration continue.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223781" y="4160520"/>
            <a:ext cx="2236394" cy="320040"/>
          </a:xfrm>
          <a:prstGeom prst="roundRect">
            <a:avLst>
              <a:gd name="adj" fmla="val 14286"/>
            </a:avLst>
          </a:prstGeom>
          <a:solidFill>
            <a:srgbClr val="003B71"/>
          </a:solidFill>
          <a:ln/>
        </p:spPr>
      </p:sp>
      <p:sp>
        <p:nvSpPr>
          <p:cNvPr id="30" name="Text 28"/>
          <p:cNvSpPr/>
          <p:nvPr/>
        </p:nvSpPr>
        <p:spPr>
          <a:xfrm>
            <a:off x="9223781" y="4160520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continu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Durées indicatives, à préciser en cadrage — la décision de généraliser est conditionnée aux résultats du pilote (test A/B).</a:t>
            </a:r>
            <a:endParaRPr lang="en-US" sz="1150" dirty="0"/>
          </a:p>
        </p:txBody>
      </p:sp>
      <p:pic>
        <p:nvPicPr>
          <p:cNvPr id="32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DE RÉUSSITE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conditions déterminent la valeur créée — à sécuriser dès le cadrage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&amp; accès aux données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clients fiables, fraîches et accessibles conditionnent la pertinence des scores.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: DSI /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8218" y="1691640"/>
            <a:ext cx="351525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2538" y="192024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2" name="Text 10"/>
          <p:cNvSpPr/>
          <p:nvPr/>
        </p:nvSpPr>
        <p:spPr>
          <a:xfrm>
            <a:off x="461253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2538" y="256032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Alignement métier &amp; conformité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12538" y="32461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Seuils, produits et règles co-définis avec le marketing et la conformité dès le départ.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2538" y="44348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: Métier / Conformité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27797" y="1691640"/>
            <a:ext cx="3515258" cy="3200400"/>
          </a:xfrm>
          <a:prstGeom prst="roundRect">
            <a:avLst>
              <a:gd name="adj" fmla="val 171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02117" y="1920240"/>
            <a:ext cx="502920" cy="502920"/>
          </a:xfrm>
          <a:prstGeom prst="ellipse">
            <a:avLst/>
          </a:prstGeom>
          <a:solidFill>
            <a:srgbClr val="003B71"/>
          </a:solidFill>
          <a:ln/>
        </p:spPr>
      </p:sp>
      <p:sp>
        <p:nvSpPr>
          <p:cNvPr id="18" name="Text 16"/>
          <p:cNvSpPr/>
          <p:nvPr/>
        </p:nvSpPr>
        <p:spPr>
          <a:xfrm>
            <a:off x="8402117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02117" y="256032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 du test &amp; de la mesure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02117" y="324612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test A/B et des indicateurs partagés objectivent la valeur et lèvent les réticences.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02117" y="44348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: Marketing / Pilotage</a:t>
            </a:r>
            <a:endParaRPr lang="en-US" sz="1050" dirty="0"/>
          </a:p>
        </p:txBody>
      </p:sp>
      <p:pic>
        <p:nvPicPr>
          <p:cNvPr id="22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ATTENDUS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la banque obtient, axe par axe — chaque bénéfice porte son indicateur de succès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80560"/>
                <a:gridCol w="4602175"/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attendu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 de succès (cible à calibrer)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B7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de ventes additionnelles à budget marketing constant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conversion &amp; revenu par campagne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 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Moins de pression, plus de pertinence perçue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désabonnement / plaintes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Zéro sollicitation non conforme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des envois filtrés, exclusions tracées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3B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Efficacité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marketing automatisé de bout en bout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2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de préparation des campagnes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cible chiffrée n'est engagée à ce stade : elles sont fixées au cadrage et validées par le pilote.</a:t>
            </a:r>
            <a:endParaRPr lang="en-US" sz="1150" dirty="0"/>
          </a:p>
        </p:txBody>
      </p:sp>
      <p:pic>
        <p:nvPicPr>
          <p:cNvPr id="6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25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3B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Lancer un pilote mesurable sur deux produits — décision de généralisation fondée sur des résultats, pas des promesses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13716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 w="12700">
            <a:solidFill>
              <a:srgbClr val="003B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décision demandée aujourd'hui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3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 lancement d'un pilote de 6 à 8 semaines sur deux produits (ex. Crédit Conso + Carte), avec un test A/B contre les campagnes actuelles et un tableau de bord partagé.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3515258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56616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1–2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31494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: produits, seuils, accès données, définition des KPIs et du protocole A/B.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8218" y="3383280"/>
            <a:ext cx="3515258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1098" y="356616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3–6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21098" y="3886200"/>
            <a:ext cx="31494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en production restreinte : l'agent tourne chaque nuit, campagnes mesurées.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7797" y="3383280"/>
            <a:ext cx="3515258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AA5B1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10677" y="356616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7–8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10677" y="3886200"/>
            <a:ext cx="31494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chiffré et décision go / no-go pour l'industrialisation.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1663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porteur métier et un référent conformité désignés dès le lancement du cadrage.</a:t>
            </a:r>
            <a:endParaRPr lang="en-US" sz="1200" dirty="0"/>
          </a:p>
        </p:txBody>
      </p:sp>
      <p:pic>
        <p:nvPicPr>
          <p:cNvPr id="17" name="Image 0" descr="assets/strata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73952"/>
            <a:ext cx="737189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22989" y="64373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prédictif · Marketing bancaire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094415" y="6437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tle_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stratawise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2920"/>
            <a:ext cx="1253222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26517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bon client, la bonne offre, le bon moment —</a:t>
            </a:r>
            <a:endParaRPr lang="en-US" sz="3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jamais transiger sur la conformité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54864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D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lancer un pilote mesurable sur deux produits.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STRATAWISE AFRICA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4180</Words>
  <Application>Microsoft Office PowerPoint</Application>
  <PresentationFormat>Grand écran</PresentationFormat>
  <Paragraphs>595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STRATAWISE AFRICA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IA prédictif — Marketing bancaire</dc:title>
  <dc:subject>PptxGenJS Presentation</dc:subject>
  <dc:creator>STRATAWISE AFRICA</dc:creator>
  <cp:lastModifiedBy>home</cp:lastModifiedBy>
  <cp:revision>1</cp:revision>
  <dcterms:created xsi:type="dcterms:W3CDTF">2026-07-28T13:46:34Z</dcterms:created>
  <dcterms:modified xsi:type="dcterms:W3CDTF">2026-07-28T13:51:12Z</dcterms:modified>
</cp:coreProperties>
</file>